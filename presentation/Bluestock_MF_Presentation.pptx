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Montserrat Bold" charset="1" panose="00000800000000000000"/>
      <p:regular r:id="rId22"/>
    </p:embeddedFont>
    <p:embeddedFont>
      <p:font typeface="DM Sans" charset="1" panose="00000000000000000000"/>
      <p:regular r:id="rId23"/>
    </p:embeddedFont>
    <p:embeddedFont>
      <p:font typeface="Cambria Bold" charset="1" panose="0204080305040603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png" Type="http://schemas.openxmlformats.org/officeDocument/2006/relationships/image"/><Relationship Id="rId4" Target="../media/image59.png" Type="http://schemas.openxmlformats.org/officeDocument/2006/relationships/image"/><Relationship Id="rId5" Target="../media/image60.png" Type="http://schemas.openxmlformats.org/officeDocument/2006/relationships/image"/><Relationship Id="rId6" Target="../media/image6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64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5.png" Type="http://schemas.openxmlformats.org/officeDocument/2006/relationships/image"/><Relationship Id="rId12" Target="../media/image6.svg" Type="http://schemas.openxmlformats.org/officeDocument/2006/relationships/image"/><Relationship Id="rId13" Target="../media/image7.png" Type="http://schemas.openxmlformats.org/officeDocument/2006/relationships/image"/><Relationship Id="rId14" Target="../media/image8.svg" Type="http://schemas.openxmlformats.org/officeDocument/2006/relationships/image"/><Relationship Id="rId2" Target="../media/image65.png" Type="http://schemas.openxmlformats.org/officeDocument/2006/relationships/image"/><Relationship Id="rId3" Target="../media/image66.svg" Type="http://schemas.openxmlformats.org/officeDocument/2006/relationships/image"/><Relationship Id="rId4" Target="../media/image67.png" Type="http://schemas.openxmlformats.org/officeDocument/2006/relationships/image"/><Relationship Id="rId5" Target="../media/image68.svg" Type="http://schemas.openxmlformats.org/officeDocument/2006/relationships/image"/><Relationship Id="rId6" Target="../media/image69.png" Type="http://schemas.openxmlformats.org/officeDocument/2006/relationships/image"/><Relationship Id="rId7" Target="../media/image70.svg" Type="http://schemas.openxmlformats.org/officeDocument/2006/relationships/image"/><Relationship Id="rId8" Target="../media/image71.png" Type="http://schemas.openxmlformats.org/officeDocument/2006/relationships/image"/><Relationship Id="rId9" Target="../media/image7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80350" y="2397881"/>
            <a:ext cx="5301007" cy="5148603"/>
          </a:xfrm>
          <a:custGeom>
            <a:avLst/>
            <a:gdLst/>
            <a:ahLst/>
            <a:cxnLst/>
            <a:rect r="r" b="b" t="t" l="l"/>
            <a:pathLst>
              <a:path h="5148603" w="5301007">
                <a:moveTo>
                  <a:pt x="0" y="0"/>
                </a:moveTo>
                <a:lnTo>
                  <a:pt x="5301006" y="0"/>
                </a:lnTo>
                <a:lnTo>
                  <a:pt x="5301006" y="5148602"/>
                </a:lnTo>
                <a:lnTo>
                  <a:pt x="0" y="51486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57710" y="3886726"/>
            <a:ext cx="8319790" cy="119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60"/>
              </a:lnSpc>
            </a:pPr>
            <a:r>
              <a:rPr lang="en-US" b="true" sz="3471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Mutual Fund Analytics &amp; Interactive Dashboard Development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57710" y="5600815"/>
            <a:ext cx="5746403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Bluestock Fintech Internship – June 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57710" y="6699993"/>
            <a:ext cx="8319790" cy="396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</a:pPr>
            <a:r>
              <a:rPr lang="en-US" b="true" sz="23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Presented By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57710" y="7048608"/>
            <a:ext cx="8319790" cy="471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7"/>
              </a:lnSpc>
            </a:pPr>
            <a:r>
              <a:rPr lang="en-US" b="true" sz="2798">
                <a:solidFill>
                  <a:srgbClr val="4B72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Divyansh Dave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58057" y="2728486"/>
            <a:ext cx="3019226" cy="396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</a:pPr>
            <a:r>
              <a:rPr lang="en-US" b="true" sz="23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Bluestock Fintech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02003" y="3696517"/>
            <a:ext cx="3294208" cy="5271876"/>
            <a:chOff x="0" y="0"/>
            <a:chExt cx="988978" cy="15827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8978" cy="1582708"/>
            </a:xfrm>
            <a:custGeom>
              <a:avLst/>
              <a:gdLst/>
              <a:ahLst/>
              <a:cxnLst/>
              <a:rect r="r" b="b" t="t" l="l"/>
              <a:pathLst>
                <a:path h="1582708" w="988978">
                  <a:moveTo>
                    <a:pt x="0" y="0"/>
                  </a:moveTo>
                  <a:lnTo>
                    <a:pt x="988978" y="0"/>
                  </a:lnTo>
                  <a:lnTo>
                    <a:pt x="988978" y="1582708"/>
                  </a:lnTo>
                  <a:lnTo>
                    <a:pt x="0" y="1582708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88978" cy="162080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3146175" y="3991220"/>
            <a:ext cx="3005863" cy="4785400"/>
            <a:chOff x="0" y="0"/>
            <a:chExt cx="709992" cy="11303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9992" cy="1130323"/>
            </a:xfrm>
            <a:custGeom>
              <a:avLst/>
              <a:gdLst/>
              <a:ahLst/>
              <a:cxnLst/>
              <a:rect r="r" b="b" t="t" l="l"/>
              <a:pathLst>
                <a:path h="1130323" w="709992">
                  <a:moveTo>
                    <a:pt x="709992" y="0"/>
                  </a:moveTo>
                  <a:lnTo>
                    <a:pt x="709992" y="1016023"/>
                  </a:lnTo>
                  <a:lnTo>
                    <a:pt x="354996" y="1130323"/>
                  </a:lnTo>
                  <a:lnTo>
                    <a:pt x="0" y="1016023"/>
                  </a:lnTo>
                  <a:lnTo>
                    <a:pt x="0" y="0"/>
                  </a:lnTo>
                  <a:lnTo>
                    <a:pt x="709992" y="0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09992" cy="105412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813013" y="3099311"/>
            <a:ext cx="1672189" cy="167218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ED581"/>
            </a:solidFill>
            <a:ln w="142875" cap="sq">
              <a:solidFill>
                <a:srgbClr val="689F38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96896" y="3696517"/>
            <a:ext cx="3294208" cy="5271876"/>
            <a:chOff x="0" y="0"/>
            <a:chExt cx="988978" cy="15827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8978" cy="1582708"/>
            </a:xfrm>
            <a:custGeom>
              <a:avLst/>
              <a:gdLst/>
              <a:ahLst/>
              <a:cxnLst/>
              <a:rect r="r" b="b" t="t" l="l"/>
              <a:pathLst>
                <a:path h="1582708" w="988978">
                  <a:moveTo>
                    <a:pt x="0" y="0"/>
                  </a:moveTo>
                  <a:lnTo>
                    <a:pt x="988978" y="0"/>
                  </a:lnTo>
                  <a:lnTo>
                    <a:pt x="988978" y="1582708"/>
                  </a:lnTo>
                  <a:lnTo>
                    <a:pt x="0" y="1582708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88978" cy="162080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7641068" y="3991220"/>
            <a:ext cx="3005863" cy="4785400"/>
            <a:chOff x="0" y="0"/>
            <a:chExt cx="709992" cy="11303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9992" cy="1130323"/>
            </a:xfrm>
            <a:custGeom>
              <a:avLst/>
              <a:gdLst/>
              <a:ahLst/>
              <a:cxnLst/>
              <a:rect r="r" b="b" t="t" l="l"/>
              <a:pathLst>
                <a:path h="1130323" w="709992">
                  <a:moveTo>
                    <a:pt x="709992" y="0"/>
                  </a:moveTo>
                  <a:lnTo>
                    <a:pt x="709992" y="1016023"/>
                  </a:lnTo>
                  <a:lnTo>
                    <a:pt x="354996" y="1130323"/>
                  </a:lnTo>
                  <a:lnTo>
                    <a:pt x="0" y="1016023"/>
                  </a:lnTo>
                  <a:lnTo>
                    <a:pt x="0" y="0"/>
                  </a:lnTo>
                  <a:lnTo>
                    <a:pt x="709992" y="0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09992" cy="105412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307906" y="3099311"/>
            <a:ext cx="1672189" cy="167218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EDC8"/>
            </a:solidFill>
            <a:ln w="142875" cap="sq">
              <a:solidFill>
                <a:srgbClr val="AED581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91254" y="3696517"/>
            <a:ext cx="3294208" cy="5271876"/>
            <a:chOff x="0" y="0"/>
            <a:chExt cx="988978" cy="15827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8978" cy="1582708"/>
            </a:xfrm>
            <a:custGeom>
              <a:avLst/>
              <a:gdLst/>
              <a:ahLst/>
              <a:cxnLst/>
              <a:rect r="r" b="b" t="t" l="l"/>
              <a:pathLst>
                <a:path h="1582708" w="988978">
                  <a:moveTo>
                    <a:pt x="0" y="0"/>
                  </a:moveTo>
                  <a:lnTo>
                    <a:pt x="988978" y="0"/>
                  </a:lnTo>
                  <a:lnTo>
                    <a:pt x="988978" y="1582708"/>
                  </a:lnTo>
                  <a:lnTo>
                    <a:pt x="0" y="1582708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88978" cy="162080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12135426" y="3991220"/>
            <a:ext cx="3005863" cy="4785400"/>
            <a:chOff x="0" y="0"/>
            <a:chExt cx="709992" cy="11303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9992" cy="1130323"/>
            </a:xfrm>
            <a:custGeom>
              <a:avLst/>
              <a:gdLst/>
              <a:ahLst/>
              <a:cxnLst/>
              <a:rect r="r" b="b" t="t" l="l"/>
              <a:pathLst>
                <a:path h="1130323" w="709992">
                  <a:moveTo>
                    <a:pt x="709992" y="0"/>
                  </a:moveTo>
                  <a:lnTo>
                    <a:pt x="709992" y="1016023"/>
                  </a:lnTo>
                  <a:lnTo>
                    <a:pt x="354996" y="1130323"/>
                  </a:lnTo>
                  <a:lnTo>
                    <a:pt x="0" y="1016023"/>
                  </a:lnTo>
                  <a:lnTo>
                    <a:pt x="0" y="0"/>
                  </a:lnTo>
                  <a:lnTo>
                    <a:pt x="709992" y="0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09992" cy="105412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802264" y="3099311"/>
            <a:ext cx="1672189" cy="1672189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ED581"/>
            </a:solidFill>
            <a:ln w="142875" cap="sq">
              <a:solidFill>
                <a:srgbClr val="DCEDC8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4267676" y="3797485"/>
            <a:ext cx="760698" cy="435201"/>
          </a:xfrm>
          <a:custGeom>
            <a:avLst/>
            <a:gdLst/>
            <a:ahLst/>
            <a:cxnLst/>
            <a:rect r="r" b="b" t="t" l="l"/>
            <a:pathLst>
              <a:path h="435201" w="760698">
                <a:moveTo>
                  <a:pt x="0" y="0"/>
                </a:moveTo>
                <a:lnTo>
                  <a:pt x="760698" y="0"/>
                </a:lnTo>
                <a:lnTo>
                  <a:pt x="760698" y="435201"/>
                </a:lnTo>
                <a:lnTo>
                  <a:pt x="0" y="435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740636" y="3572577"/>
            <a:ext cx="691394" cy="712777"/>
          </a:xfrm>
          <a:custGeom>
            <a:avLst/>
            <a:gdLst/>
            <a:ahLst/>
            <a:cxnLst/>
            <a:rect r="r" b="b" t="t" l="l"/>
            <a:pathLst>
              <a:path h="712777" w="691394">
                <a:moveTo>
                  <a:pt x="0" y="0"/>
                </a:moveTo>
                <a:lnTo>
                  <a:pt x="691394" y="0"/>
                </a:lnTo>
                <a:lnTo>
                  <a:pt x="691394" y="712777"/>
                </a:lnTo>
                <a:lnTo>
                  <a:pt x="0" y="712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316153" y="3722426"/>
            <a:ext cx="644882" cy="386929"/>
          </a:xfrm>
          <a:custGeom>
            <a:avLst/>
            <a:gdLst/>
            <a:ahLst/>
            <a:cxnLst/>
            <a:rect r="r" b="b" t="t" l="l"/>
            <a:pathLst>
              <a:path h="386929" w="644882">
                <a:moveTo>
                  <a:pt x="0" y="0"/>
                </a:moveTo>
                <a:lnTo>
                  <a:pt x="644882" y="0"/>
                </a:lnTo>
                <a:lnTo>
                  <a:pt x="644882" y="386929"/>
                </a:lnTo>
                <a:lnTo>
                  <a:pt x="0" y="3869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-948577" y="8132336"/>
            <a:ext cx="2750430" cy="2975806"/>
          </a:xfrm>
          <a:custGeom>
            <a:avLst/>
            <a:gdLst/>
            <a:ahLst/>
            <a:cxnLst/>
            <a:rect r="r" b="b" t="t" l="l"/>
            <a:pathLst>
              <a:path h="2975806" w="2750430">
                <a:moveTo>
                  <a:pt x="0" y="0"/>
                </a:moveTo>
                <a:lnTo>
                  <a:pt x="2750430" y="0"/>
                </a:lnTo>
                <a:lnTo>
                  <a:pt x="2750430" y="2975805"/>
                </a:lnTo>
                <a:lnTo>
                  <a:pt x="0" y="29758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6891642" y="-363110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8"/>
                </a:lnTo>
                <a:lnTo>
                  <a:pt x="0" y="22372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5309360" y="1242407"/>
            <a:ext cx="7669281" cy="145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419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Overview &amp; Objectives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416502" y="5115042"/>
            <a:ext cx="2465209" cy="59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60"/>
              </a:lnSpc>
            </a:pPr>
            <a:r>
              <a:rPr lang="en-US" b="true" sz="175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ETL Pipeline &amp; Data Infrastructure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503371" y="5949206"/>
            <a:ext cx="2291471" cy="197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3"/>
              </a:lnSpc>
            </a:pPr>
            <a:r>
              <a:rPr lang="en-US" sz="143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Build an end-to-end ETL pipeline to extract raw CSV data, clean duplicates, standardize dates, handle missing values, and load processed data into SQLite for structured analysis.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911395" y="5115042"/>
            <a:ext cx="2465209" cy="288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60"/>
              </a:lnSpc>
            </a:pPr>
            <a:r>
              <a:rPr lang="en-US" b="true" sz="175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EDA &amp; Risk Metrics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998264" y="5949206"/>
            <a:ext cx="2291471" cy="197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3"/>
              </a:lnSpc>
            </a:pPr>
            <a:r>
              <a:rPr lang="en-US" sz="143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Perform exploratory data analysis and calculate advanced risk metrics including VaR, CVaR, Sharpe Ratio, CAGR, and volatility to evaluate fund performance and investor behavior.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10354" y="5115042"/>
            <a:ext cx="2465209" cy="59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60"/>
              </a:lnSpc>
            </a:pPr>
            <a:r>
              <a:rPr lang="en-US" b="true" sz="175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 Dashboard &amp; Recommendations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497223" y="5949206"/>
            <a:ext cx="2291471" cy="197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3"/>
              </a:lnSpc>
            </a:pPr>
            <a:r>
              <a:rPr lang="en-US" sz="143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Develop an interactive Power BI dashboard visualizing fund performance, investor demographics, and SIP trends, plus a fund recommendation system ranked by Sharpe Ratio.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02003" y="3696517"/>
            <a:ext cx="3899333" cy="4606239"/>
            <a:chOff x="0" y="0"/>
            <a:chExt cx="1170647" cy="13828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647" cy="1382872"/>
            </a:xfrm>
            <a:custGeom>
              <a:avLst/>
              <a:gdLst/>
              <a:ahLst/>
              <a:cxnLst/>
              <a:rect r="r" b="b" t="t" l="l"/>
              <a:pathLst>
                <a:path h="1382872" w="1170647">
                  <a:moveTo>
                    <a:pt x="0" y="0"/>
                  </a:moveTo>
                  <a:lnTo>
                    <a:pt x="1170647" y="0"/>
                  </a:lnTo>
                  <a:lnTo>
                    <a:pt x="1170647" y="1382872"/>
                  </a:lnTo>
                  <a:lnTo>
                    <a:pt x="0" y="1382872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70647" cy="142097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59128" y="7410215"/>
            <a:ext cx="1785082" cy="178508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94334" y="3696517"/>
            <a:ext cx="3899333" cy="4606239"/>
            <a:chOff x="0" y="0"/>
            <a:chExt cx="1170647" cy="13828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0647" cy="1382872"/>
            </a:xfrm>
            <a:custGeom>
              <a:avLst/>
              <a:gdLst/>
              <a:ahLst/>
              <a:cxnLst/>
              <a:rect r="r" b="b" t="t" l="l"/>
              <a:pathLst>
                <a:path h="1382872" w="1170647">
                  <a:moveTo>
                    <a:pt x="0" y="0"/>
                  </a:moveTo>
                  <a:lnTo>
                    <a:pt x="1170647" y="0"/>
                  </a:lnTo>
                  <a:lnTo>
                    <a:pt x="1170647" y="1382872"/>
                  </a:lnTo>
                  <a:lnTo>
                    <a:pt x="0" y="1382872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70647" cy="142097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51459" y="7410215"/>
            <a:ext cx="1785082" cy="178508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388941" y="3696517"/>
            <a:ext cx="3899333" cy="4606239"/>
            <a:chOff x="0" y="0"/>
            <a:chExt cx="1170647" cy="13828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0647" cy="1382872"/>
            </a:xfrm>
            <a:custGeom>
              <a:avLst/>
              <a:gdLst/>
              <a:ahLst/>
              <a:cxnLst/>
              <a:rect r="r" b="b" t="t" l="l"/>
              <a:pathLst>
                <a:path h="1382872" w="1170647">
                  <a:moveTo>
                    <a:pt x="0" y="0"/>
                  </a:moveTo>
                  <a:lnTo>
                    <a:pt x="1170647" y="0"/>
                  </a:lnTo>
                  <a:lnTo>
                    <a:pt x="1170647" y="1382872"/>
                  </a:lnTo>
                  <a:lnTo>
                    <a:pt x="0" y="1382872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70647" cy="142097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446067" y="7410215"/>
            <a:ext cx="1785082" cy="178508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687183" y="8023308"/>
            <a:ext cx="538159" cy="698524"/>
          </a:xfrm>
          <a:custGeom>
            <a:avLst/>
            <a:gdLst/>
            <a:ahLst/>
            <a:cxnLst/>
            <a:rect r="r" b="b" t="t" l="l"/>
            <a:pathLst>
              <a:path h="698524" w="538159">
                <a:moveTo>
                  <a:pt x="0" y="0"/>
                </a:moveTo>
                <a:lnTo>
                  <a:pt x="538159" y="0"/>
                </a:lnTo>
                <a:lnTo>
                  <a:pt x="538159" y="698524"/>
                </a:lnTo>
                <a:lnTo>
                  <a:pt x="0" y="698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452357" y="7859476"/>
            <a:ext cx="1253183" cy="876723"/>
          </a:xfrm>
          <a:custGeom>
            <a:avLst/>
            <a:gdLst/>
            <a:ahLst/>
            <a:cxnLst/>
            <a:rect r="r" b="b" t="t" l="l"/>
            <a:pathLst>
              <a:path h="876723" w="1253183">
                <a:moveTo>
                  <a:pt x="0" y="0"/>
                </a:moveTo>
                <a:lnTo>
                  <a:pt x="1253183" y="0"/>
                </a:lnTo>
                <a:lnTo>
                  <a:pt x="1253183" y="876723"/>
                </a:lnTo>
                <a:lnTo>
                  <a:pt x="0" y="8767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397529" y="-908329"/>
            <a:ext cx="3230536" cy="2638920"/>
          </a:xfrm>
          <a:custGeom>
            <a:avLst/>
            <a:gdLst/>
            <a:ahLst/>
            <a:cxnLst/>
            <a:rect r="r" b="b" t="t" l="l"/>
            <a:pathLst>
              <a:path h="2638920" w="3230536">
                <a:moveTo>
                  <a:pt x="0" y="0"/>
                </a:moveTo>
                <a:lnTo>
                  <a:pt x="3230536" y="0"/>
                </a:lnTo>
                <a:lnTo>
                  <a:pt x="3230536" y="2638920"/>
                </a:lnTo>
                <a:lnTo>
                  <a:pt x="0" y="26389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543230" y="8486837"/>
            <a:ext cx="2283441" cy="2620955"/>
          </a:xfrm>
          <a:custGeom>
            <a:avLst/>
            <a:gdLst/>
            <a:ahLst/>
            <a:cxnLst/>
            <a:rect r="r" b="b" t="t" l="l"/>
            <a:pathLst>
              <a:path h="2620955" w="2283441">
                <a:moveTo>
                  <a:pt x="0" y="0"/>
                </a:moveTo>
                <a:lnTo>
                  <a:pt x="2283442" y="0"/>
                </a:lnTo>
                <a:lnTo>
                  <a:pt x="2283442" y="2620955"/>
                </a:lnTo>
                <a:lnTo>
                  <a:pt x="0" y="26209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853014" y="7805231"/>
            <a:ext cx="728838" cy="762184"/>
          </a:xfrm>
          <a:custGeom>
            <a:avLst/>
            <a:gdLst/>
            <a:ahLst/>
            <a:cxnLst/>
            <a:rect r="r" b="b" t="t" l="l"/>
            <a:pathLst>
              <a:path h="762184" w="728838">
                <a:moveTo>
                  <a:pt x="0" y="0"/>
                </a:moveTo>
                <a:lnTo>
                  <a:pt x="728839" y="0"/>
                </a:lnTo>
                <a:lnTo>
                  <a:pt x="728839" y="762183"/>
                </a:lnTo>
                <a:lnTo>
                  <a:pt x="0" y="7621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883590" y="1270982"/>
            <a:ext cx="6519544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90"/>
              </a:lnSpc>
            </a:pPr>
            <a:r>
              <a:rPr lang="en-US" b="true" sz="285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Datasets Used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19065" y="4237612"/>
            <a:ext cx="2465209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5"/>
              </a:lnSpc>
            </a:pPr>
            <a:r>
              <a:rPr lang="en-US" b="true" sz="1425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fund_master.csv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609268" y="5114925"/>
            <a:ext cx="2684802" cy="104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09"/>
              </a:lnSpc>
            </a:pPr>
            <a:r>
              <a:rPr lang="en-US" sz="122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Contains mutual fund scheme details including fund names, categories, sub-categories, and AMFI codes. Serves as the master reference for all fund-level analysis.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10758" y="4237612"/>
            <a:ext cx="2465209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5"/>
              </a:lnSpc>
            </a:pPr>
            <a:r>
              <a:rPr lang="en-US" b="true" sz="1425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nav_history.csv &amp; investor_transactions.csv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800961" y="5114925"/>
            <a:ext cx="2684802" cy="104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09"/>
              </a:lnSpc>
            </a:pPr>
            <a:r>
              <a:rPr lang="en-US" sz="122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Historical NAV data tracks daily fund prices over time. Investor transactions capture SIPs, lumpsum investments, and redemptions with dates and amounts.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08338" y="4237612"/>
            <a:ext cx="2465209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5"/>
              </a:lnSpc>
            </a:pPr>
            <a:r>
              <a:rPr lang="en-US" b="true" sz="1425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performance.csv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98541" y="5114925"/>
            <a:ext cx="2684802" cy="104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09"/>
              </a:lnSpc>
            </a:pPr>
            <a:r>
              <a:rPr lang="en-US" sz="122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Stores computed metrics including returns, CAGR, Sharpe Ratio, volatility measures, and risk grades. Enables fund comparison and risk-adjusted performance analysis.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06090" y="3502310"/>
            <a:ext cx="5132339" cy="5395363"/>
          </a:xfrm>
          <a:custGeom>
            <a:avLst/>
            <a:gdLst/>
            <a:ahLst/>
            <a:cxnLst/>
            <a:rect r="r" b="b" t="t" l="l"/>
            <a:pathLst>
              <a:path h="5395363" w="5132339">
                <a:moveTo>
                  <a:pt x="0" y="0"/>
                </a:moveTo>
                <a:lnTo>
                  <a:pt x="5132340" y="0"/>
                </a:lnTo>
                <a:lnTo>
                  <a:pt x="5132340" y="5395363"/>
                </a:lnTo>
                <a:lnTo>
                  <a:pt x="0" y="53953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99278" y="5144624"/>
            <a:ext cx="744351" cy="868739"/>
          </a:xfrm>
          <a:custGeom>
            <a:avLst/>
            <a:gdLst/>
            <a:ahLst/>
            <a:cxnLst/>
            <a:rect r="r" b="b" t="t" l="l"/>
            <a:pathLst>
              <a:path h="868739" w="744351">
                <a:moveTo>
                  <a:pt x="0" y="0"/>
                </a:moveTo>
                <a:lnTo>
                  <a:pt x="744352" y="0"/>
                </a:lnTo>
                <a:lnTo>
                  <a:pt x="744352" y="868739"/>
                </a:lnTo>
                <a:lnTo>
                  <a:pt x="0" y="86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54782" y="7842249"/>
            <a:ext cx="832700" cy="832700"/>
          </a:xfrm>
          <a:custGeom>
            <a:avLst/>
            <a:gdLst/>
            <a:ahLst/>
            <a:cxnLst/>
            <a:rect r="r" b="b" t="t" l="l"/>
            <a:pathLst>
              <a:path h="832700" w="832700">
                <a:moveTo>
                  <a:pt x="0" y="0"/>
                </a:moveTo>
                <a:lnTo>
                  <a:pt x="832700" y="0"/>
                </a:lnTo>
                <a:lnTo>
                  <a:pt x="832700" y="832701"/>
                </a:lnTo>
                <a:lnTo>
                  <a:pt x="0" y="8327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99782" y="3798414"/>
            <a:ext cx="1112989" cy="1042642"/>
          </a:xfrm>
          <a:custGeom>
            <a:avLst/>
            <a:gdLst/>
            <a:ahLst/>
            <a:cxnLst/>
            <a:rect r="r" b="b" t="t" l="l"/>
            <a:pathLst>
              <a:path h="1042642" w="1112989">
                <a:moveTo>
                  <a:pt x="0" y="0"/>
                </a:moveTo>
                <a:lnTo>
                  <a:pt x="1112989" y="0"/>
                </a:lnTo>
                <a:lnTo>
                  <a:pt x="1112989" y="1042642"/>
                </a:lnTo>
                <a:lnTo>
                  <a:pt x="0" y="10426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79087" y="6317996"/>
            <a:ext cx="844622" cy="866513"/>
          </a:xfrm>
          <a:custGeom>
            <a:avLst/>
            <a:gdLst/>
            <a:ahLst/>
            <a:cxnLst/>
            <a:rect r="r" b="b" t="t" l="l"/>
            <a:pathLst>
              <a:path h="866513" w="844622">
                <a:moveTo>
                  <a:pt x="0" y="0"/>
                </a:moveTo>
                <a:lnTo>
                  <a:pt x="844622" y="0"/>
                </a:lnTo>
                <a:lnTo>
                  <a:pt x="844622" y="866513"/>
                </a:lnTo>
                <a:lnTo>
                  <a:pt x="0" y="8665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43960" y="-603305"/>
            <a:ext cx="2448613" cy="2159231"/>
          </a:xfrm>
          <a:custGeom>
            <a:avLst/>
            <a:gdLst/>
            <a:ahLst/>
            <a:cxnLst/>
            <a:rect r="r" b="b" t="t" l="l"/>
            <a:pathLst>
              <a:path h="2159231" w="2448613">
                <a:moveTo>
                  <a:pt x="0" y="0"/>
                </a:moveTo>
                <a:lnTo>
                  <a:pt x="2448612" y="0"/>
                </a:lnTo>
                <a:lnTo>
                  <a:pt x="2448612" y="2159231"/>
                </a:lnTo>
                <a:lnTo>
                  <a:pt x="0" y="21592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22676" y="8441453"/>
            <a:ext cx="4310743" cy="4114800"/>
          </a:xfrm>
          <a:custGeom>
            <a:avLst/>
            <a:gdLst/>
            <a:ahLst/>
            <a:cxnLst/>
            <a:rect r="r" b="b" t="t" l="l"/>
            <a:pathLst>
              <a:path h="4114800" w="4310743">
                <a:moveTo>
                  <a:pt x="0" y="0"/>
                </a:moveTo>
                <a:lnTo>
                  <a:pt x="4310742" y="0"/>
                </a:lnTo>
                <a:lnTo>
                  <a:pt x="43107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883590" y="1242407"/>
            <a:ext cx="6519544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0"/>
              </a:lnSpc>
            </a:pPr>
            <a:r>
              <a:rPr lang="en-US" b="true" sz="42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ETL Pipeline</a:t>
            </a:r>
          </a:p>
          <a:p>
            <a:pPr algn="ctr" marL="0" indent="0" lvl="0">
              <a:lnSpc>
                <a:spcPts val="5880"/>
              </a:lnSpc>
            </a:pPr>
            <a:r>
              <a:rPr lang="en-US" b="true" sz="42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35872" y="4787265"/>
            <a:ext cx="406879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40"/>
              </a:lnSpc>
            </a:pPr>
            <a:r>
              <a:rPr lang="en-US" b="true" sz="21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Extract Raw Data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64998" y="5276877"/>
            <a:ext cx="4439664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</a:pPr>
            <a:r>
              <a:rPr lang="en-US" sz="1800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Import raw CSV files including fund_master, nav_history, investor_transactions, and performance data into the pipeline for processing.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35872" y="7360163"/>
            <a:ext cx="406879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40"/>
              </a:lnSpc>
            </a:pPr>
            <a:r>
              <a:rPr lang="en-US" b="true" sz="21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Load to Storage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64998" y="7849776"/>
            <a:ext cx="4439664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</a:pPr>
            <a:r>
              <a:rPr lang="en-US" sz="1800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Store processed data in SQLite database and export clean files to the data/processed/ folder for downstream analysis.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83339" y="3559465"/>
            <a:ext cx="406879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b="true" sz="21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Transform &amp; Clean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83339" y="4049077"/>
            <a:ext cx="4439664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Remove duplicates, standardize dates, handle missing values, validate transaction amounts, and engineer new features for analysis.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83339" y="6132364"/>
            <a:ext cx="406879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b="true" sz="21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Analysis-Ready Output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83339" y="6621976"/>
            <a:ext cx="4439664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Deliver structured, validated datasets ready for EDA, risk metric calculations, Power BI dashboards, and fund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02003" y="4223466"/>
            <a:ext cx="3460617" cy="4336468"/>
            <a:chOff x="0" y="0"/>
            <a:chExt cx="1038937" cy="1301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8937" cy="1301882"/>
            </a:xfrm>
            <a:custGeom>
              <a:avLst/>
              <a:gdLst/>
              <a:ahLst/>
              <a:cxnLst/>
              <a:rect r="r" b="b" t="t" l="l"/>
              <a:pathLst>
                <a:path h="1301882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01882"/>
                  </a:lnTo>
                  <a:lnTo>
                    <a:pt x="0" y="1301882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38937" cy="133998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15688" y="4000198"/>
            <a:ext cx="3460617" cy="4336468"/>
            <a:chOff x="0" y="0"/>
            <a:chExt cx="1038937" cy="13018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8937" cy="1301882"/>
            </a:xfrm>
            <a:custGeom>
              <a:avLst/>
              <a:gdLst/>
              <a:ahLst/>
              <a:cxnLst/>
              <a:rect r="r" b="b" t="t" l="l"/>
              <a:pathLst>
                <a:path h="1301882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01882"/>
                  </a:lnTo>
                  <a:lnTo>
                    <a:pt x="0" y="1301882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38937" cy="133998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56849" y="4223466"/>
            <a:ext cx="3460617" cy="4336468"/>
            <a:chOff x="0" y="0"/>
            <a:chExt cx="1038937" cy="13018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8937" cy="1301882"/>
            </a:xfrm>
            <a:custGeom>
              <a:avLst/>
              <a:gdLst/>
              <a:ahLst/>
              <a:cxnLst/>
              <a:rect r="r" b="b" t="t" l="l"/>
              <a:pathLst>
                <a:path h="1301882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01882"/>
                  </a:lnTo>
                  <a:lnTo>
                    <a:pt x="0" y="1301882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38937" cy="133998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70534" y="4000198"/>
            <a:ext cx="3460617" cy="4336468"/>
            <a:chOff x="0" y="0"/>
            <a:chExt cx="1038937" cy="13018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8937" cy="1301882"/>
            </a:xfrm>
            <a:custGeom>
              <a:avLst/>
              <a:gdLst/>
              <a:ahLst/>
              <a:cxnLst/>
              <a:rect r="r" b="b" t="t" l="l"/>
              <a:pathLst>
                <a:path h="1301882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01882"/>
                  </a:lnTo>
                  <a:lnTo>
                    <a:pt x="0" y="1301882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38937" cy="133998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13407" y="4223466"/>
            <a:ext cx="3460617" cy="4336468"/>
            <a:chOff x="0" y="0"/>
            <a:chExt cx="1038937" cy="130188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8937" cy="1301882"/>
            </a:xfrm>
            <a:custGeom>
              <a:avLst/>
              <a:gdLst/>
              <a:ahLst/>
              <a:cxnLst/>
              <a:rect r="r" b="b" t="t" l="l"/>
              <a:pathLst>
                <a:path h="1301882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01882"/>
                  </a:lnTo>
                  <a:lnTo>
                    <a:pt x="0" y="1301882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38937" cy="133998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27091" y="4000198"/>
            <a:ext cx="3460617" cy="4336468"/>
            <a:chOff x="0" y="0"/>
            <a:chExt cx="1038937" cy="13018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8937" cy="1301882"/>
            </a:xfrm>
            <a:custGeom>
              <a:avLst/>
              <a:gdLst/>
              <a:ahLst/>
              <a:cxnLst/>
              <a:rect r="r" b="b" t="t" l="l"/>
              <a:pathLst>
                <a:path h="1301882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01882"/>
                  </a:lnTo>
                  <a:lnTo>
                    <a:pt x="0" y="1301882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38937" cy="133998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059503" y="4194256"/>
            <a:ext cx="717256" cy="761606"/>
          </a:xfrm>
          <a:custGeom>
            <a:avLst/>
            <a:gdLst/>
            <a:ahLst/>
            <a:cxnLst/>
            <a:rect r="r" b="b" t="t" l="l"/>
            <a:pathLst>
              <a:path h="761606" w="717256">
                <a:moveTo>
                  <a:pt x="0" y="0"/>
                </a:moveTo>
                <a:lnTo>
                  <a:pt x="717256" y="0"/>
                </a:lnTo>
                <a:lnTo>
                  <a:pt x="717256" y="761606"/>
                </a:lnTo>
                <a:lnTo>
                  <a:pt x="0" y="761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305352" y="4225559"/>
            <a:ext cx="1335276" cy="742748"/>
          </a:xfrm>
          <a:custGeom>
            <a:avLst/>
            <a:gdLst/>
            <a:ahLst/>
            <a:cxnLst/>
            <a:rect r="r" b="b" t="t" l="l"/>
            <a:pathLst>
              <a:path h="742748" w="1335276">
                <a:moveTo>
                  <a:pt x="0" y="0"/>
                </a:moveTo>
                <a:lnTo>
                  <a:pt x="1335276" y="0"/>
                </a:lnTo>
                <a:lnTo>
                  <a:pt x="1335276" y="742748"/>
                </a:lnTo>
                <a:lnTo>
                  <a:pt x="0" y="742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774964" y="4034366"/>
            <a:ext cx="1460491" cy="1267238"/>
          </a:xfrm>
          <a:custGeom>
            <a:avLst/>
            <a:gdLst/>
            <a:ahLst/>
            <a:cxnLst/>
            <a:rect r="r" b="b" t="t" l="l"/>
            <a:pathLst>
              <a:path h="1267238" w="1460491">
                <a:moveTo>
                  <a:pt x="0" y="0"/>
                </a:moveTo>
                <a:lnTo>
                  <a:pt x="1460491" y="0"/>
                </a:lnTo>
                <a:lnTo>
                  <a:pt x="1460491" y="1267238"/>
                </a:lnTo>
                <a:lnTo>
                  <a:pt x="0" y="1267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true" rot="0">
            <a:off x="16528583" y="8559934"/>
            <a:ext cx="2147582" cy="2128513"/>
          </a:xfrm>
          <a:custGeom>
            <a:avLst/>
            <a:gdLst/>
            <a:ahLst/>
            <a:cxnLst/>
            <a:rect r="r" b="b" t="t" l="l"/>
            <a:pathLst>
              <a:path h="2128513" w="2147582">
                <a:moveTo>
                  <a:pt x="0" y="2128512"/>
                </a:moveTo>
                <a:lnTo>
                  <a:pt x="2147582" y="2128512"/>
                </a:lnTo>
                <a:lnTo>
                  <a:pt x="2147582" y="0"/>
                </a:lnTo>
                <a:lnTo>
                  <a:pt x="0" y="0"/>
                </a:lnTo>
                <a:lnTo>
                  <a:pt x="0" y="212851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883590" y="1242407"/>
            <a:ext cx="6519544" cy="145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419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Exploratory Data Analysis – Key Insights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64540" y="5390546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Fund &amp; Transaction Distribution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103595" y="6277384"/>
            <a:ext cx="2684802" cy="131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92"/>
              </a:lnSpc>
            </a:pPr>
            <a:r>
              <a:rPr lang="en-US" sz="1280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Equity mutual funds dominate the dataset. SIPs constitute 58.4% of all transactions, followed by Lumpsum (35.34%) and Redemptions (6.17%), reflecting strong systematic investment preference.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19386" y="5390546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Investor Demographics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658441" y="6277384"/>
            <a:ext cx="2684802" cy="109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92"/>
              </a:lnSpc>
            </a:pPr>
            <a:r>
              <a:rPr lang="en-US" sz="1280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66.54% Male vs 33.46% Female investors. The largest age group is 26–35 years (41%), indicating strong participation among young working professionals.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075943" y="5390546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 vs. Return &amp; SIP Growth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14999" y="6277384"/>
            <a:ext cx="2684802" cy="109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92"/>
              </a:lnSpc>
            </a:pPr>
            <a:r>
              <a:rPr lang="en-US" sz="1280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Higher-risk funds yield significantly higher average returns (~22% vs ~6%). Monthly SIP inflows show a steady upward growth trend, signaling rising investor confidence.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-843960" y="-603305"/>
            <a:ext cx="2448613" cy="2159231"/>
          </a:xfrm>
          <a:custGeom>
            <a:avLst/>
            <a:gdLst/>
            <a:ahLst/>
            <a:cxnLst/>
            <a:rect r="r" b="b" t="t" l="l"/>
            <a:pathLst>
              <a:path h="2159231" w="2448613">
                <a:moveTo>
                  <a:pt x="0" y="0"/>
                </a:moveTo>
                <a:lnTo>
                  <a:pt x="2448612" y="0"/>
                </a:lnTo>
                <a:lnTo>
                  <a:pt x="2448612" y="2159231"/>
                </a:lnTo>
                <a:lnTo>
                  <a:pt x="0" y="21592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02003" y="3784750"/>
            <a:ext cx="3460617" cy="4986977"/>
            <a:chOff x="0" y="0"/>
            <a:chExt cx="1038937" cy="14971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8937" cy="1497176"/>
            </a:xfrm>
            <a:custGeom>
              <a:avLst/>
              <a:gdLst/>
              <a:ahLst/>
              <a:cxnLst/>
              <a:rect r="r" b="b" t="t" l="l"/>
              <a:pathLst>
                <a:path h="1497176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497176"/>
                  </a:lnTo>
                  <a:lnTo>
                    <a:pt x="0" y="1497176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38937" cy="1535276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30816" y="4013837"/>
            <a:ext cx="3460617" cy="4528803"/>
            <a:chOff x="0" y="0"/>
            <a:chExt cx="1038937" cy="1359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8937" cy="1359625"/>
            </a:xfrm>
            <a:custGeom>
              <a:avLst/>
              <a:gdLst/>
              <a:ahLst/>
              <a:cxnLst/>
              <a:rect r="r" b="b" t="t" l="l"/>
              <a:pathLst>
                <a:path h="1359625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59625"/>
                  </a:lnTo>
                  <a:lnTo>
                    <a:pt x="0" y="1359625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38937" cy="139772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9285" y="3784750"/>
            <a:ext cx="3460617" cy="4986977"/>
            <a:chOff x="0" y="0"/>
            <a:chExt cx="1038937" cy="14971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8937" cy="1497176"/>
            </a:xfrm>
            <a:custGeom>
              <a:avLst/>
              <a:gdLst/>
              <a:ahLst/>
              <a:cxnLst/>
              <a:rect r="r" b="b" t="t" l="l"/>
              <a:pathLst>
                <a:path h="1497176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497176"/>
                  </a:lnTo>
                  <a:lnTo>
                    <a:pt x="0" y="1497176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38937" cy="1535276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78098" y="4013837"/>
            <a:ext cx="3460617" cy="4528803"/>
            <a:chOff x="0" y="0"/>
            <a:chExt cx="1038937" cy="13596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8937" cy="1359625"/>
            </a:xfrm>
            <a:custGeom>
              <a:avLst/>
              <a:gdLst/>
              <a:ahLst/>
              <a:cxnLst/>
              <a:rect r="r" b="b" t="t" l="l"/>
              <a:pathLst>
                <a:path h="1359625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59625"/>
                  </a:lnTo>
                  <a:lnTo>
                    <a:pt x="0" y="1359625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38937" cy="139772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00240" y="3784750"/>
            <a:ext cx="3460617" cy="4986977"/>
            <a:chOff x="0" y="0"/>
            <a:chExt cx="1038937" cy="14971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8937" cy="1497176"/>
            </a:xfrm>
            <a:custGeom>
              <a:avLst/>
              <a:gdLst/>
              <a:ahLst/>
              <a:cxnLst/>
              <a:rect r="r" b="b" t="t" l="l"/>
              <a:pathLst>
                <a:path h="1497176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497176"/>
                  </a:lnTo>
                  <a:lnTo>
                    <a:pt x="0" y="1497176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38937" cy="1535276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29052" y="4013837"/>
            <a:ext cx="3460617" cy="4528803"/>
            <a:chOff x="0" y="0"/>
            <a:chExt cx="1038937" cy="13596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8937" cy="1359625"/>
            </a:xfrm>
            <a:custGeom>
              <a:avLst/>
              <a:gdLst/>
              <a:ahLst/>
              <a:cxnLst/>
              <a:rect r="r" b="b" t="t" l="l"/>
              <a:pathLst>
                <a:path h="1359625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59625"/>
                  </a:lnTo>
                  <a:lnTo>
                    <a:pt x="0" y="1359625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38937" cy="139772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6891642" y="8771727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9"/>
                </a:lnTo>
                <a:lnTo>
                  <a:pt x="0" y="2237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-1936959" y="-1555427"/>
            <a:ext cx="4310743" cy="4114800"/>
          </a:xfrm>
          <a:custGeom>
            <a:avLst/>
            <a:gdLst/>
            <a:ahLst/>
            <a:cxnLst/>
            <a:rect r="r" b="b" t="t" l="l"/>
            <a:pathLst>
              <a:path h="4114800" w="4310743">
                <a:moveTo>
                  <a:pt x="4310743" y="0"/>
                </a:moveTo>
                <a:lnTo>
                  <a:pt x="0" y="0"/>
                </a:lnTo>
                <a:lnTo>
                  <a:pt x="0" y="4114800"/>
                </a:lnTo>
                <a:lnTo>
                  <a:pt x="4310743" y="4114800"/>
                </a:lnTo>
                <a:lnTo>
                  <a:pt x="43107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999051" y="4366569"/>
            <a:ext cx="792167" cy="879614"/>
          </a:xfrm>
          <a:custGeom>
            <a:avLst/>
            <a:gdLst/>
            <a:ahLst/>
            <a:cxnLst/>
            <a:rect r="r" b="b" t="t" l="l"/>
            <a:pathLst>
              <a:path h="879614" w="792167">
                <a:moveTo>
                  <a:pt x="0" y="0"/>
                </a:moveTo>
                <a:lnTo>
                  <a:pt x="792167" y="0"/>
                </a:lnTo>
                <a:lnTo>
                  <a:pt x="792167" y="879614"/>
                </a:lnTo>
                <a:lnTo>
                  <a:pt x="0" y="879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491558" y="4382433"/>
            <a:ext cx="879925" cy="641828"/>
          </a:xfrm>
          <a:custGeom>
            <a:avLst/>
            <a:gdLst/>
            <a:ahLst/>
            <a:cxnLst/>
            <a:rect r="r" b="b" t="t" l="l"/>
            <a:pathLst>
              <a:path h="641828" w="879925">
                <a:moveTo>
                  <a:pt x="0" y="0"/>
                </a:moveTo>
                <a:lnTo>
                  <a:pt x="879925" y="0"/>
                </a:lnTo>
                <a:lnTo>
                  <a:pt x="879925" y="641828"/>
                </a:lnTo>
                <a:lnTo>
                  <a:pt x="0" y="6418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222872" y="4522138"/>
            <a:ext cx="627012" cy="629088"/>
          </a:xfrm>
          <a:custGeom>
            <a:avLst/>
            <a:gdLst/>
            <a:ahLst/>
            <a:cxnLst/>
            <a:rect r="r" b="b" t="t" l="l"/>
            <a:pathLst>
              <a:path h="629088" w="627012">
                <a:moveTo>
                  <a:pt x="0" y="0"/>
                </a:moveTo>
                <a:lnTo>
                  <a:pt x="627012" y="0"/>
                </a:lnTo>
                <a:lnTo>
                  <a:pt x="627012" y="629088"/>
                </a:lnTo>
                <a:lnTo>
                  <a:pt x="0" y="6290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883590" y="1242407"/>
            <a:ext cx="6519544" cy="145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419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Advanced Risk Metrics</a:t>
            </a:r>
          </a:p>
          <a:p>
            <a:pPr algn="ctr" marL="0" indent="0" lvl="0">
              <a:lnSpc>
                <a:spcPts val="5875"/>
              </a:lnSpc>
            </a:pPr>
            <a:r>
              <a:rPr lang="en-US" b="true" sz="419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 &amp; CVaR Analysis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964540" y="5390546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Historical VaR</a:t>
            </a:r>
          </a:p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(95% Confidence)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103595" y="6277384"/>
            <a:ext cx="2684802" cy="132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35"/>
              </a:lnSpc>
            </a:pPr>
            <a:r>
              <a:rPr lang="en-US" sz="1525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Quantifies the maximum potential loss over a given period at a 95% confidence level. Helps set risk thresholds across fund categories.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19386" y="5390546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Conditional VaR</a:t>
            </a:r>
          </a:p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(CVaR / ES)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658441" y="6277384"/>
            <a:ext cx="2684802" cy="132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35"/>
              </a:lnSpc>
            </a:pPr>
            <a:r>
              <a:rPr lang="en-US" sz="1525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Estimates the expected loss in worst-case scenarios beyond the VaR threshold. Provides a more conservative and complete risk picture.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75943" y="5390546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 Management</a:t>
            </a:r>
          </a:p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14999" y="6277384"/>
            <a:ext cx="2684802" cy="132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35"/>
              </a:lnSpc>
            </a:pPr>
            <a:r>
              <a:rPr lang="en-US" sz="1525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VaR and CVaR are compared across fund categories and risk grades to identify high-exposure funds and guide portfolio risk decisions.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5683418" y="7098335"/>
            <a:ext cx="900105" cy="787592"/>
            <a:chOff x="0" y="0"/>
            <a:chExt cx="812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93834" y="3464297"/>
            <a:ext cx="3751737" cy="4992242"/>
            <a:chOff x="0" y="0"/>
            <a:chExt cx="988112" cy="13148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8112" cy="1314829"/>
            </a:xfrm>
            <a:custGeom>
              <a:avLst/>
              <a:gdLst/>
              <a:ahLst/>
              <a:cxnLst/>
              <a:rect r="r" b="b" t="t" l="l"/>
              <a:pathLst>
                <a:path h="1314829" w="988112">
                  <a:moveTo>
                    <a:pt x="30953" y="0"/>
                  </a:moveTo>
                  <a:lnTo>
                    <a:pt x="957158" y="0"/>
                  </a:lnTo>
                  <a:cubicBezTo>
                    <a:pt x="974254" y="0"/>
                    <a:pt x="988112" y="13858"/>
                    <a:pt x="988112" y="30953"/>
                  </a:cubicBezTo>
                  <a:lnTo>
                    <a:pt x="988112" y="1283876"/>
                  </a:lnTo>
                  <a:cubicBezTo>
                    <a:pt x="988112" y="1300971"/>
                    <a:pt x="974254" y="1314829"/>
                    <a:pt x="957158" y="1314829"/>
                  </a:cubicBezTo>
                  <a:lnTo>
                    <a:pt x="30953" y="1314829"/>
                  </a:lnTo>
                  <a:cubicBezTo>
                    <a:pt x="13858" y="1314829"/>
                    <a:pt x="0" y="1300971"/>
                    <a:pt x="0" y="1283876"/>
                  </a:cubicBezTo>
                  <a:lnTo>
                    <a:pt x="0" y="30953"/>
                  </a:lnTo>
                  <a:cubicBezTo>
                    <a:pt x="0" y="13858"/>
                    <a:pt x="13858" y="0"/>
                    <a:pt x="30953" y="0"/>
                  </a:cubicBez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88112" cy="1352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0855630" y="7098335"/>
            <a:ext cx="900105" cy="787592"/>
            <a:chOff x="0" y="0"/>
            <a:chExt cx="812800" cy="711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66046" y="3464297"/>
            <a:ext cx="3751737" cy="4992242"/>
            <a:chOff x="0" y="0"/>
            <a:chExt cx="988112" cy="13148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8112" cy="1314829"/>
            </a:xfrm>
            <a:custGeom>
              <a:avLst/>
              <a:gdLst/>
              <a:ahLst/>
              <a:cxnLst/>
              <a:rect r="r" b="b" t="t" l="l"/>
              <a:pathLst>
                <a:path h="1314829" w="988112">
                  <a:moveTo>
                    <a:pt x="30953" y="0"/>
                  </a:moveTo>
                  <a:lnTo>
                    <a:pt x="957158" y="0"/>
                  </a:lnTo>
                  <a:cubicBezTo>
                    <a:pt x="974254" y="0"/>
                    <a:pt x="988112" y="13858"/>
                    <a:pt x="988112" y="30953"/>
                  </a:cubicBezTo>
                  <a:lnTo>
                    <a:pt x="988112" y="1283876"/>
                  </a:lnTo>
                  <a:cubicBezTo>
                    <a:pt x="988112" y="1300971"/>
                    <a:pt x="974254" y="1314829"/>
                    <a:pt x="957158" y="1314829"/>
                  </a:cubicBezTo>
                  <a:lnTo>
                    <a:pt x="30953" y="1314829"/>
                  </a:lnTo>
                  <a:cubicBezTo>
                    <a:pt x="13858" y="1314829"/>
                    <a:pt x="0" y="1300971"/>
                    <a:pt x="0" y="1283876"/>
                  </a:cubicBezTo>
                  <a:lnTo>
                    <a:pt x="0" y="30953"/>
                  </a:lnTo>
                  <a:cubicBezTo>
                    <a:pt x="0" y="13858"/>
                    <a:pt x="13858" y="0"/>
                    <a:pt x="30953" y="0"/>
                  </a:cubicBez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88112" cy="1352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42429" y="3464297"/>
            <a:ext cx="3751737" cy="4992242"/>
            <a:chOff x="0" y="0"/>
            <a:chExt cx="988112" cy="13148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8112" cy="1314829"/>
            </a:xfrm>
            <a:custGeom>
              <a:avLst/>
              <a:gdLst/>
              <a:ahLst/>
              <a:cxnLst/>
              <a:rect r="r" b="b" t="t" l="l"/>
              <a:pathLst>
                <a:path h="1314829" w="988112">
                  <a:moveTo>
                    <a:pt x="30953" y="0"/>
                  </a:moveTo>
                  <a:lnTo>
                    <a:pt x="957158" y="0"/>
                  </a:lnTo>
                  <a:cubicBezTo>
                    <a:pt x="974254" y="0"/>
                    <a:pt x="988112" y="13858"/>
                    <a:pt x="988112" y="30953"/>
                  </a:cubicBezTo>
                  <a:lnTo>
                    <a:pt x="988112" y="1283876"/>
                  </a:lnTo>
                  <a:cubicBezTo>
                    <a:pt x="988112" y="1300971"/>
                    <a:pt x="974254" y="1314829"/>
                    <a:pt x="957158" y="1314829"/>
                  </a:cubicBezTo>
                  <a:lnTo>
                    <a:pt x="30953" y="1314829"/>
                  </a:lnTo>
                  <a:cubicBezTo>
                    <a:pt x="13858" y="1314829"/>
                    <a:pt x="0" y="1300971"/>
                    <a:pt x="0" y="1283876"/>
                  </a:cubicBezTo>
                  <a:lnTo>
                    <a:pt x="0" y="30953"/>
                  </a:lnTo>
                  <a:cubicBezTo>
                    <a:pt x="0" y="13858"/>
                    <a:pt x="13858" y="0"/>
                    <a:pt x="30953" y="0"/>
                  </a:cubicBez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88112" cy="1352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843960" y="8717914"/>
            <a:ext cx="2448613" cy="2159231"/>
          </a:xfrm>
          <a:custGeom>
            <a:avLst/>
            <a:gdLst/>
            <a:ahLst/>
            <a:cxnLst/>
            <a:rect r="r" b="b" t="t" l="l"/>
            <a:pathLst>
              <a:path h="2159231" w="2448613">
                <a:moveTo>
                  <a:pt x="0" y="0"/>
                </a:moveTo>
                <a:lnTo>
                  <a:pt x="2448612" y="0"/>
                </a:lnTo>
                <a:lnTo>
                  <a:pt x="2448612" y="2159231"/>
                </a:lnTo>
                <a:lnTo>
                  <a:pt x="0" y="2159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true" rot="0">
            <a:off x="16528583" y="-809906"/>
            <a:ext cx="2147582" cy="2128513"/>
          </a:xfrm>
          <a:custGeom>
            <a:avLst/>
            <a:gdLst/>
            <a:ahLst/>
            <a:cxnLst/>
            <a:rect r="r" b="b" t="t" l="l"/>
            <a:pathLst>
              <a:path h="2128513" w="2147582">
                <a:moveTo>
                  <a:pt x="0" y="2128513"/>
                </a:moveTo>
                <a:lnTo>
                  <a:pt x="2147582" y="2128513"/>
                </a:lnTo>
                <a:lnTo>
                  <a:pt x="2147582" y="0"/>
                </a:lnTo>
                <a:lnTo>
                  <a:pt x="0" y="0"/>
                </a:lnTo>
                <a:lnTo>
                  <a:pt x="0" y="212851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411174" y="3887333"/>
            <a:ext cx="858875" cy="869993"/>
          </a:xfrm>
          <a:custGeom>
            <a:avLst/>
            <a:gdLst/>
            <a:ahLst/>
            <a:cxnLst/>
            <a:rect r="r" b="b" t="t" l="l"/>
            <a:pathLst>
              <a:path h="869993" w="858875">
                <a:moveTo>
                  <a:pt x="0" y="0"/>
                </a:moveTo>
                <a:lnTo>
                  <a:pt x="858874" y="0"/>
                </a:lnTo>
                <a:lnTo>
                  <a:pt x="858874" y="869993"/>
                </a:lnTo>
                <a:lnTo>
                  <a:pt x="0" y="8699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286741" y="3701318"/>
            <a:ext cx="1660106" cy="1061071"/>
          </a:xfrm>
          <a:custGeom>
            <a:avLst/>
            <a:gdLst/>
            <a:ahLst/>
            <a:cxnLst/>
            <a:rect r="r" b="b" t="t" l="l"/>
            <a:pathLst>
              <a:path h="1061071" w="1660106">
                <a:moveTo>
                  <a:pt x="0" y="0"/>
                </a:moveTo>
                <a:lnTo>
                  <a:pt x="1660106" y="0"/>
                </a:lnTo>
                <a:lnTo>
                  <a:pt x="1660106" y="1061071"/>
                </a:lnTo>
                <a:lnTo>
                  <a:pt x="0" y="10610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735957" y="3850735"/>
            <a:ext cx="1169960" cy="1183285"/>
          </a:xfrm>
          <a:custGeom>
            <a:avLst/>
            <a:gdLst/>
            <a:ahLst/>
            <a:cxnLst/>
            <a:rect r="r" b="b" t="t" l="l"/>
            <a:pathLst>
              <a:path h="1183285" w="1169960">
                <a:moveTo>
                  <a:pt x="0" y="0"/>
                </a:moveTo>
                <a:lnTo>
                  <a:pt x="1169960" y="0"/>
                </a:lnTo>
                <a:lnTo>
                  <a:pt x="1169960" y="1183285"/>
                </a:lnTo>
                <a:lnTo>
                  <a:pt x="0" y="11832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883590" y="1242407"/>
            <a:ext cx="6519544" cy="145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419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Rolling Sharpe Ratio Analysis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88246" y="5254393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90-Day Rolling Methodology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27302" y="6141231"/>
            <a:ext cx="2684802" cy="153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56"/>
              </a:lnSpc>
            </a:pPr>
            <a:r>
              <a:rPr lang="en-US" sz="146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Sharpe Ratio is computed on a rolling 90-day window to capture dynamic risk-adjusted returns, smoothing short-term noise while reflecting evolving fund performance.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16201" y="5254393"/>
            <a:ext cx="3251428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Track Performance Fluctuations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799514" y="6141231"/>
            <a:ext cx="2684802" cy="153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56"/>
              </a:lnSpc>
            </a:pPr>
            <a:r>
              <a:rPr lang="en-US" sz="146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Rolling analysis reveals how fund efficiency shifts over time, highlighting periods of outperformance and drawdown relative to risk taken by the fund manager.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36840" y="5254393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Identify Consistent Outperformers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975896" y="6141231"/>
            <a:ext cx="2684802" cy="153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56"/>
              </a:lnSpc>
            </a:pPr>
            <a:r>
              <a:rPr lang="en-US" sz="146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Funds maintaining a stable, high rolling Sharpe Ratio across market cycles are flagged as consistent outperformers and prioritized in the recommendation system.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30816" y="3257431"/>
            <a:ext cx="3460617" cy="1257799"/>
            <a:chOff x="0" y="0"/>
            <a:chExt cx="1038937" cy="3776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8937" cy="377613"/>
            </a:xfrm>
            <a:custGeom>
              <a:avLst/>
              <a:gdLst/>
              <a:ahLst/>
              <a:cxnLst/>
              <a:rect r="r" b="b" t="t" l="l"/>
              <a:pathLst>
                <a:path h="377613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377613"/>
                  </a:lnTo>
                  <a:lnTo>
                    <a:pt x="0" y="377613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38937" cy="41571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30816" y="4515230"/>
            <a:ext cx="3460617" cy="4256497"/>
            <a:chOff x="0" y="0"/>
            <a:chExt cx="1038937" cy="12778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8937" cy="1277874"/>
            </a:xfrm>
            <a:custGeom>
              <a:avLst/>
              <a:gdLst/>
              <a:ahLst/>
              <a:cxnLst/>
              <a:rect r="r" b="b" t="t" l="l"/>
              <a:pathLst>
                <a:path h="1277874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277874"/>
                  </a:lnTo>
                  <a:lnTo>
                    <a:pt x="0" y="1277874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38937" cy="1315974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13691" y="3257431"/>
            <a:ext cx="3460617" cy="1257799"/>
            <a:chOff x="0" y="0"/>
            <a:chExt cx="1038937" cy="3776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8937" cy="377613"/>
            </a:xfrm>
            <a:custGeom>
              <a:avLst/>
              <a:gdLst/>
              <a:ahLst/>
              <a:cxnLst/>
              <a:rect r="r" b="b" t="t" l="l"/>
              <a:pathLst>
                <a:path h="377613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377613"/>
                  </a:lnTo>
                  <a:lnTo>
                    <a:pt x="0" y="377613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38937" cy="41571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13691" y="4515230"/>
            <a:ext cx="3460617" cy="4256497"/>
            <a:chOff x="0" y="0"/>
            <a:chExt cx="1038937" cy="12778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8937" cy="1277874"/>
            </a:xfrm>
            <a:custGeom>
              <a:avLst/>
              <a:gdLst/>
              <a:ahLst/>
              <a:cxnLst/>
              <a:rect r="r" b="b" t="t" l="l"/>
              <a:pathLst>
                <a:path h="1277874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277874"/>
                  </a:lnTo>
                  <a:lnTo>
                    <a:pt x="0" y="1277874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38937" cy="1315974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093509" y="3257431"/>
            <a:ext cx="3460617" cy="1257799"/>
            <a:chOff x="0" y="0"/>
            <a:chExt cx="1038937" cy="3776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8937" cy="377613"/>
            </a:xfrm>
            <a:custGeom>
              <a:avLst/>
              <a:gdLst/>
              <a:ahLst/>
              <a:cxnLst/>
              <a:rect r="r" b="b" t="t" l="l"/>
              <a:pathLst>
                <a:path h="377613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377613"/>
                  </a:lnTo>
                  <a:lnTo>
                    <a:pt x="0" y="377613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38937" cy="41571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093509" y="4515230"/>
            <a:ext cx="3460617" cy="4256497"/>
            <a:chOff x="0" y="0"/>
            <a:chExt cx="1038937" cy="127787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8937" cy="1277874"/>
            </a:xfrm>
            <a:custGeom>
              <a:avLst/>
              <a:gdLst/>
              <a:ahLst/>
              <a:cxnLst/>
              <a:rect r="r" b="b" t="t" l="l"/>
              <a:pathLst>
                <a:path h="1277874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277874"/>
                  </a:lnTo>
                  <a:lnTo>
                    <a:pt x="0" y="1277874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38937" cy="1315974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029856" y="5185796"/>
            <a:ext cx="856377" cy="857449"/>
          </a:xfrm>
          <a:custGeom>
            <a:avLst/>
            <a:gdLst/>
            <a:ahLst/>
            <a:cxnLst/>
            <a:rect r="r" b="b" t="t" l="l"/>
            <a:pathLst>
              <a:path h="857449" w="856377">
                <a:moveTo>
                  <a:pt x="0" y="0"/>
                </a:moveTo>
                <a:lnTo>
                  <a:pt x="856377" y="0"/>
                </a:lnTo>
                <a:lnTo>
                  <a:pt x="856377" y="857449"/>
                </a:lnTo>
                <a:lnTo>
                  <a:pt x="0" y="857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744539" y="4975245"/>
            <a:ext cx="804701" cy="966608"/>
          </a:xfrm>
          <a:custGeom>
            <a:avLst/>
            <a:gdLst/>
            <a:ahLst/>
            <a:cxnLst/>
            <a:rect r="r" b="b" t="t" l="l"/>
            <a:pathLst>
              <a:path h="966608" w="804701">
                <a:moveTo>
                  <a:pt x="0" y="0"/>
                </a:moveTo>
                <a:lnTo>
                  <a:pt x="804701" y="0"/>
                </a:lnTo>
                <a:lnTo>
                  <a:pt x="804701" y="966607"/>
                </a:lnTo>
                <a:lnTo>
                  <a:pt x="0" y="966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398123" y="5084678"/>
            <a:ext cx="855994" cy="855994"/>
          </a:xfrm>
          <a:custGeom>
            <a:avLst/>
            <a:gdLst/>
            <a:ahLst/>
            <a:cxnLst/>
            <a:rect r="r" b="b" t="t" l="l"/>
            <a:pathLst>
              <a:path h="855994" w="855994">
                <a:moveTo>
                  <a:pt x="0" y="0"/>
                </a:moveTo>
                <a:lnTo>
                  <a:pt x="855994" y="0"/>
                </a:lnTo>
                <a:lnTo>
                  <a:pt x="855994" y="855994"/>
                </a:lnTo>
                <a:lnTo>
                  <a:pt x="0" y="8559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883590" y="1242407"/>
            <a:ext cx="6519544" cy="145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419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Investor Cohort &amp; SIP Continuity Analysis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979668" y="3503426"/>
            <a:ext cx="2962913" cy="708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2"/>
              </a:lnSpc>
            </a:pPr>
            <a:r>
              <a:rPr lang="en-US" b="true" sz="208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Cohort Analysis by First Investment Year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118723" y="6478751"/>
            <a:ext cx="2684802" cy="127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6"/>
              </a:lnSpc>
            </a:pPr>
            <a:r>
              <a:rPr lang="en-US" sz="1497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Investors grouped by year of first investment to track retention, behavioral patterns, and long-term loyalty trends across cohorts.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62543" y="3503426"/>
            <a:ext cx="2962913" cy="708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2"/>
              </a:lnSpc>
            </a:pPr>
            <a:r>
              <a:rPr lang="en-US" b="true" sz="208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SIP Continuity Flagging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42361" y="3503426"/>
            <a:ext cx="2962913" cy="708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2"/>
              </a:lnSpc>
            </a:pPr>
            <a:r>
              <a:rPr lang="en-US" b="true" sz="208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At-Risk Investor Detection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801599" y="6478751"/>
            <a:ext cx="2684802" cy="127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6"/>
              </a:lnSpc>
            </a:pPr>
            <a:r>
              <a:rPr lang="en-US" sz="1497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SIPs with gaps exceeding 35 days are automatically flagged as at-risk, enabling proactive intervention to prevent lapse and improve continuity rates.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81416" y="6478751"/>
            <a:ext cx="2684802" cy="153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6"/>
              </a:lnSpc>
            </a:pPr>
            <a:r>
              <a:rPr lang="en-US" sz="1497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Identifies investors at risk of SIP lapse, quantifies loyalty metrics, and supports targeted retention strategies to reduce churn and improve AUM stability.</a:t>
            </a:r>
          </a:p>
        </p:txBody>
      </p:sp>
      <p:sp>
        <p:nvSpPr>
          <p:cNvPr name="Freeform 30" id="30"/>
          <p:cNvSpPr/>
          <p:nvPr/>
        </p:nvSpPr>
        <p:spPr>
          <a:xfrm flipH="false" flipV="true" rot="0">
            <a:off x="16397529" y="8347556"/>
            <a:ext cx="3230536" cy="2638920"/>
          </a:xfrm>
          <a:custGeom>
            <a:avLst/>
            <a:gdLst/>
            <a:ahLst/>
            <a:cxnLst/>
            <a:rect r="r" b="b" t="t" l="l"/>
            <a:pathLst>
              <a:path h="2638920" w="3230536">
                <a:moveTo>
                  <a:pt x="0" y="2638920"/>
                </a:moveTo>
                <a:lnTo>
                  <a:pt x="3230536" y="2638920"/>
                </a:lnTo>
                <a:lnTo>
                  <a:pt x="3230536" y="0"/>
                </a:lnTo>
                <a:lnTo>
                  <a:pt x="0" y="0"/>
                </a:lnTo>
                <a:lnTo>
                  <a:pt x="0" y="263892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-543230" y="-408495"/>
            <a:ext cx="2283441" cy="2620955"/>
          </a:xfrm>
          <a:custGeom>
            <a:avLst/>
            <a:gdLst/>
            <a:ahLst/>
            <a:cxnLst/>
            <a:rect r="r" b="b" t="t" l="l"/>
            <a:pathLst>
              <a:path h="2620955" w="2283441">
                <a:moveTo>
                  <a:pt x="0" y="0"/>
                </a:moveTo>
                <a:lnTo>
                  <a:pt x="2283442" y="0"/>
                </a:lnTo>
                <a:lnTo>
                  <a:pt x="2283442" y="2620955"/>
                </a:lnTo>
                <a:lnTo>
                  <a:pt x="0" y="26209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02003" y="3696517"/>
            <a:ext cx="3294208" cy="5271876"/>
            <a:chOff x="0" y="0"/>
            <a:chExt cx="988978" cy="15827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8978" cy="1582708"/>
            </a:xfrm>
            <a:custGeom>
              <a:avLst/>
              <a:gdLst/>
              <a:ahLst/>
              <a:cxnLst/>
              <a:rect r="r" b="b" t="t" l="l"/>
              <a:pathLst>
                <a:path h="1582708" w="988978">
                  <a:moveTo>
                    <a:pt x="0" y="0"/>
                  </a:moveTo>
                  <a:lnTo>
                    <a:pt x="988978" y="0"/>
                  </a:lnTo>
                  <a:lnTo>
                    <a:pt x="988978" y="1582708"/>
                  </a:lnTo>
                  <a:lnTo>
                    <a:pt x="0" y="1582708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88978" cy="162080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3146175" y="3991220"/>
            <a:ext cx="3005863" cy="4785400"/>
            <a:chOff x="0" y="0"/>
            <a:chExt cx="709992" cy="11303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9992" cy="1130323"/>
            </a:xfrm>
            <a:custGeom>
              <a:avLst/>
              <a:gdLst/>
              <a:ahLst/>
              <a:cxnLst/>
              <a:rect r="r" b="b" t="t" l="l"/>
              <a:pathLst>
                <a:path h="1130323" w="709992">
                  <a:moveTo>
                    <a:pt x="709992" y="0"/>
                  </a:moveTo>
                  <a:lnTo>
                    <a:pt x="709992" y="1016023"/>
                  </a:lnTo>
                  <a:lnTo>
                    <a:pt x="354996" y="1130323"/>
                  </a:lnTo>
                  <a:lnTo>
                    <a:pt x="0" y="1016023"/>
                  </a:lnTo>
                  <a:lnTo>
                    <a:pt x="0" y="0"/>
                  </a:lnTo>
                  <a:lnTo>
                    <a:pt x="709992" y="0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09992" cy="105412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813013" y="3099311"/>
            <a:ext cx="1672189" cy="167218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ED581"/>
            </a:solidFill>
            <a:ln w="142875" cap="sq">
              <a:solidFill>
                <a:srgbClr val="689F38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96896" y="3696517"/>
            <a:ext cx="3294208" cy="5271876"/>
            <a:chOff x="0" y="0"/>
            <a:chExt cx="988978" cy="15827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8978" cy="1582708"/>
            </a:xfrm>
            <a:custGeom>
              <a:avLst/>
              <a:gdLst/>
              <a:ahLst/>
              <a:cxnLst/>
              <a:rect r="r" b="b" t="t" l="l"/>
              <a:pathLst>
                <a:path h="1582708" w="988978">
                  <a:moveTo>
                    <a:pt x="0" y="0"/>
                  </a:moveTo>
                  <a:lnTo>
                    <a:pt x="988978" y="0"/>
                  </a:lnTo>
                  <a:lnTo>
                    <a:pt x="988978" y="1582708"/>
                  </a:lnTo>
                  <a:lnTo>
                    <a:pt x="0" y="1582708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88978" cy="162080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7641068" y="3991220"/>
            <a:ext cx="3005863" cy="4785400"/>
            <a:chOff x="0" y="0"/>
            <a:chExt cx="709992" cy="11303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9992" cy="1130323"/>
            </a:xfrm>
            <a:custGeom>
              <a:avLst/>
              <a:gdLst/>
              <a:ahLst/>
              <a:cxnLst/>
              <a:rect r="r" b="b" t="t" l="l"/>
              <a:pathLst>
                <a:path h="1130323" w="709992">
                  <a:moveTo>
                    <a:pt x="709992" y="0"/>
                  </a:moveTo>
                  <a:lnTo>
                    <a:pt x="709992" y="1016023"/>
                  </a:lnTo>
                  <a:lnTo>
                    <a:pt x="354996" y="1130323"/>
                  </a:lnTo>
                  <a:lnTo>
                    <a:pt x="0" y="1016023"/>
                  </a:lnTo>
                  <a:lnTo>
                    <a:pt x="0" y="0"/>
                  </a:lnTo>
                  <a:lnTo>
                    <a:pt x="709992" y="0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09992" cy="105412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307906" y="3099311"/>
            <a:ext cx="1672189" cy="167218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EDC8"/>
            </a:solidFill>
            <a:ln w="142875" cap="sq">
              <a:solidFill>
                <a:srgbClr val="AED581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91254" y="3696517"/>
            <a:ext cx="3294208" cy="5271876"/>
            <a:chOff x="0" y="0"/>
            <a:chExt cx="988978" cy="15827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8978" cy="1582708"/>
            </a:xfrm>
            <a:custGeom>
              <a:avLst/>
              <a:gdLst/>
              <a:ahLst/>
              <a:cxnLst/>
              <a:rect r="r" b="b" t="t" l="l"/>
              <a:pathLst>
                <a:path h="1582708" w="988978">
                  <a:moveTo>
                    <a:pt x="0" y="0"/>
                  </a:moveTo>
                  <a:lnTo>
                    <a:pt x="988978" y="0"/>
                  </a:lnTo>
                  <a:lnTo>
                    <a:pt x="988978" y="1582708"/>
                  </a:lnTo>
                  <a:lnTo>
                    <a:pt x="0" y="1582708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88978" cy="162080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12135426" y="3991220"/>
            <a:ext cx="3005863" cy="4785400"/>
            <a:chOff x="0" y="0"/>
            <a:chExt cx="709992" cy="11303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9992" cy="1130323"/>
            </a:xfrm>
            <a:custGeom>
              <a:avLst/>
              <a:gdLst/>
              <a:ahLst/>
              <a:cxnLst/>
              <a:rect r="r" b="b" t="t" l="l"/>
              <a:pathLst>
                <a:path h="1130323" w="709992">
                  <a:moveTo>
                    <a:pt x="709992" y="0"/>
                  </a:moveTo>
                  <a:lnTo>
                    <a:pt x="709992" y="1016023"/>
                  </a:lnTo>
                  <a:lnTo>
                    <a:pt x="354996" y="1130323"/>
                  </a:lnTo>
                  <a:lnTo>
                    <a:pt x="0" y="1016023"/>
                  </a:lnTo>
                  <a:lnTo>
                    <a:pt x="0" y="0"/>
                  </a:lnTo>
                  <a:lnTo>
                    <a:pt x="709992" y="0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09992" cy="105412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802264" y="3099311"/>
            <a:ext cx="1672189" cy="1672189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ED581"/>
            </a:solidFill>
            <a:ln w="142875" cap="sq">
              <a:solidFill>
                <a:srgbClr val="DCEDC8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4258145" y="3595174"/>
            <a:ext cx="673620" cy="691394"/>
          </a:xfrm>
          <a:custGeom>
            <a:avLst/>
            <a:gdLst/>
            <a:ahLst/>
            <a:cxnLst/>
            <a:rect r="r" b="b" t="t" l="l"/>
            <a:pathLst>
              <a:path h="691394" w="673620">
                <a:moveTo>
                  <a:pt x="0" y="0"/>
                </a:moveTo>
                <a:lnTo>
                  <a:pt x="673620" y="0"/>
                </a:lnTo>
                <a:lnTo>
                  <a:pt x="673620" y="691394"/>
                </a:lnTo>
                <a:lnTo>
                  <a:pt x="0" y="6913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626200" y="3567009"/>
            <a:ext cx="842795" cy="656127"/>
          </a:xfrm>
          <a:custGeom>
            <a:avLst/>
            <a:gdLst/>
            <a:ahLst/>
            <a:cxnLst/>
            <a:rect r="r" b="b" t="t" l="l"/>
            <a:pathLst>
              <a:path h="656127" w="842795">
                <a:moveTo>
                  <a:pt x="0" y="0"/>
                </a:moveTo>
                <a:lnTo>
                  <a:pt x="842796" y="0"/>
                </a:lnTo>
                <a:lnTo>
                  <a:pt x="842796" y="656127"/>
                </a:lnTo>
                <a:lnTo>
                  <a:pt x="0" y="656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317551" y="3598504"/>
            <a:ext cx="644882" cy="646021"/>
          </a:xfrm>
          <a:custGeom>
            <a:avLst/>
            <a:gdLst/>
            <a:ahLst/>
            <a:cxnLst/>
            <a:rect r="r" b="b" t="t" l="l"/>
            <a:pathLst>
              <a:path h="646021" w="644882">
                <a:moveTo>
                  <a:pt x="0" y="0"/>
                </a:moveTo>
                <a:lnTo>
                  <a:pt x="644882" y="0"/>
                </a:lnTo>
                <a:lnTo>
                  <a:pt x="644882" y="646022"/>
                </a:lnTo>
                <a:lnTo>
                  <a:pt x="0" y="646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-948577" y="8132336"/>
            <a:ext cx="2750430" cy="2975806"/>
          </a:xfrm>
          <a:custGeom>
            <a:avLst/>
            <a:gdLst/>
            <a:ahLst/>
            <a:cxnLst/>
            <a:rect r="r" b="b" t="t" l="l"/>
            <a:pathLst>
              <a:path h="2975806" w="2750430">
                <a:moveTo>
                  <a:pt x="0" y="0"/>
                </a:moveTo>
                <a:lnTo>
                  <a:pt x="2750430" y="0"/>
                </a:lnTo>
                <a:lnTo>
                  <a:pt x="2750430" y="2975805"/>
                </a:lnTo>
                <a:lnTo>
                  <a:pt x="0" y="29758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6891642" y="-363110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8"/>
                </a:lnTo>
                <a:lnTo>
                  <a:pt x="0" y="22372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5309360" y="952500"/>
            <a:ext cx="7669281" cy="145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419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 Dashboard – Fund Performance (Page 1)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416502" y="5105517"/>
            <a:ext cx="2465209" cy="709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6"/>
              </a:lnSpc>
            </a:pPr>
            <a:r>
              <a:rPr lang="en-US" b="true" sz="2054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Performance Metrics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503371" y="5958731"/>
            <a:ext cx="2291471" cy="1814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45"/>
              </a:lnSpc>
            </a:pPr>
            <a:r>
              <a:rPr lang="en-US" sz="131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Total Funds: 40 | Total AUM: 1 Million | Avg 3-Year Return: 14.09% | Avg Sharpe Ratio: 1.36. These headline KPIs provide an at-a-glance summary of the mutual fund portfolio's overall health and performance.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911395" y="5105517"/>
            <a:ext cx="2465209" cy="709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6"/>
              </a:lnSpc>
            </a:pPr>
            <a:r>
              <a:rPr lang="en-US" b="true" sz="2054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NAV Trends &amp; Risk vs Return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998264" y="5958731"/>
            <a:ext cx="2291471" cy="20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45"/>
              </a:lnSpc>
            </a:pPr>
            <a:r>
              <a:rPr lang="en-US" sz="131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Interactive NAV trend line chart tracks historical fund performance over time. Risk vs Return scatter plot maps each fund's annualized return against its volatility, enabling quick identification of high-performing, risk-efficient funds.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10354" y="5105517"/>
            <a:ext cx="2465209" cy="709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6"/>
              </a:lnSpc>
            </a:pPr>
            <a:r>
              <a:rPr lang="en-US" b="true" sz="2054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Gender &amp; Investor Distribution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497223" y="5958731"/>
            <a:ext cx="2291471" cy="20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45"/>
              </a:lnSpc>
            </a:pPr>
            <a:r>
              <a:rPr lang="en-US" sz="131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Gender distribution pie chart reveals 66.54% Male and 33.46% Female investors. Age cohort breakdown highlights the 26–35 segment as the dominant group at 41%, guiding targeted fund recommendations and communication strategies.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02003" y="4223466"/>
            <a:ext cx="3460617" cy="4336468"/>
            <a:chOff x="0" y="0"/>
            <a:chExt cx="1038937" cy="1301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8937" cy="1301882"/>
            </a:xfrm>
            <a:custGeom>
              <a:avLst/>
              <a:gdLst/>
              <a:ahLst/>
              <a:cxnLst/>
              <a:rect r="r" b="b" t="t" l="l"/>
              <a:pathLst>
                <a:path h="1301882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01882"/>
                  </a:lnTo>
                  <a:lnTo>
                    <a:pt x="0" y="1301882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38937" cy="133998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15688" y="4000198"/>
            <a:ext cx="3460617" cy="4336468"/>
            <a:chOff x="0" y="0"/>
            <a:chExt cx="1038937" cy="13018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8937" cy="1301882"/>
            </a:xfrm>
            <a:custGeom>
              <a:avLst/>
              <a:gdLst/>
              <a:ahLst/>
              <a:cxnLst/>
              <a:rect r="r" b="b" t="t" l="l"/>
              <a:pathLst>
                <a:path h="1301882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01882"/>
                  </a:lnTo>
                  <a:lnTo>
                    <a:pt x="0" y="1301882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38937" cy="133998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56849" y="4223466"/>
            <a:ext cx="3460617" cy="4336468"/>
            <a:chOff x="0" y="0"/>
            <a:chExt cx="1038937" cy="13018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8937" cy="1301882"/>
            </a:xfrm>
            <a:custGeom>
              <a:avLst/>
              <a:gdLst/>
              <a:ahLst/>
              <a:cxnLst/>
              <a:rect r="r" b="b" t="t" l="l"/>
              <a:pathLst>
                <a:path h="1301882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01882"/>
                  </a:lnTo>
                  <a:lnTo>
                    <a:pt x="0" y="1301882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38937" cy="133998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70534" y="4000198"/>
            <a:ext cx="3460617" cy="4336468"/>
            <a:chOff x="0" y="0"/>
            <a:chExt cx="1038937" cy="13018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8937" cy="1301882"/>
            </a:xfrm>
            <a:custGeom>
              <a:avLst/>
              <a:gdLst/>
              <a:ahLst/>
              <a:cxnLst/>
              <a:rect r="r" b="b" t="t" l="l"/>
              <a:pathLst>
                <a:path h="1301882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01882"/>
                  </a:lnTo>
                  <a:lnTo>
                    <a:pt x="0" y="1301882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38937" cy="133998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13407" y="4223466"/>
            <a:ext cx="3460617" cy="4336468"/>
            <a:chOff x="0" y="0"/>
            <a:chExt cx="1038937" cy="130188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8937" cy="1301882"/>
            </a:xfrm>
            <a:custGeom>
              <a:avLst/>
              <a:gdLst/>
              <a:ahLst/>
              <a:cxnLst/>
              <a:rect r="r" b="b" t="t" l="l"/>
              <a:pathLst>
                <a:path h="1301882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01882"/>
                  </a:lnTo>
                  <a:lnTo>
                    <a:pt x="0" y="1301882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38937" cy="133998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27091" y="4000198"/>
            <a:ext cx="3460617" cy="4336468"/>
            <a:chOff x="0" y="0"/>
            <a:chExt cx="1038937" cy="13018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8937" cy="1301882"/>
            </a:xfrm>
            <a:custGeom>
              <a:avLst/>
              <a:gdLst/>
              <a:ahLst/>
              <a:cxnLst/>
              <a:rect r="r" b="b" t="t" l="l"/>
              <a:pathLst>
                <a:path h="1301882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01882"/>
                  </a:lnTo>
                  <a:lnTo>
                    <a:pt x="0" y="1301882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38937" cy="133998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091517" y="4275632"/>
            <a:ext cx="686905" cy="655874"/>
          </a:xfrm>
          <a:custGeom>
            <a:avLst/>
            <a:gdLst/>
            <a:ahLst/>
            <a:cxnLst/>
            <a:rect r="r" b="b" t="t" l="l"/>
            <a:pathLst>
              <a:path h="655874" w="686905">
                <a:moveTo>
                  <a:pt x="0" y="0"/>
                </a:moveTo>
                <a:lnTo>
                  <a:pt x="686905" y="0"/>
                </a:lnTo>
                <a:lnTo>
                  <a:pt x="686905" y="655874"/>
                </a:lnTo>
                <a:lnTo>
                  <a:pt x="0" y="6558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511463" y="4238182"/>
            <a:ext cx="925199" cy="957744"/>
          </a:xfrm>
          <a:custGeom>
            <a:avLst/>
            <a:gdLst/>
            <a:ahLst/>
            <a:cxnLst/>
            <a:rect r="r" b="b" t="t" l="l"/>
            <a:pathLst>
              <a:path h="957744" w="925199">
                <a:moveTo>
                  <a:pt x="0" y="0"/>
                </a:moveTo>
                <a:lnTo>
                  <a:pt x="925199" y="0"/>
                </a:lnTo>
                <a:lnTo>
                  <a:pt x="925199" y="957743"/>
                </a:lnTo>
                <a:lnTo>
                  <a:pt x="0" y="957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140727" y="4391469"/>
            <a:ext cx="777108" cy="772996"/>
          </a:xfrm>
          <a:custGeom>
            <a:avLst/>
            <a:gdLst/>
            <a:ahLst/>
            <a:cxnLst/>
            <a:rect r="r" b="b" t="t" l="l"/>
            <a:pathLst>
              <a:path h="772996" w="777108">
                <a:moveTo>
                  <a:pt x="0" y="0"/>
                </a:moveTo>
                <a:lnTo>
                  <a:pt x="777107" y="0"/>
                </a:lnTo>
                <a:lnTo>
                  <a:pt x="777107" y="772996"/>
                </a:lnTo>
                <a:lnTo>
                  <a:pt x="0" y="7729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true" rot="0">
            <a:off x="16528583" y="8559934"/>
            <a:ext cx="2147582" cy="2128513"/>
          </a:xfrm>
          <a:custGeom>
            <a:avLst/>
            <a:gdLst/>
            <a:ahLst/>
            <a:cxnLst/>
            <a:rect r="r" b="b" t="t" l="l"/>
            <a:pathLst>
              <a:path h="2128513" w="2147582">
                <a:moveTo>
                  <a:pt x="0" y="2128512"/>
                </a:moveTo>
                <a:lnTo>
                  <a:pt x="2147582" y="2128512"/>
                </a:lnTo>
                <a:lnTo>
                  <a:pt x="2147582" y="0"/>
                </a:lnTo>
                <a:lnTo>
                  <a:pt x="0" y="0"/>
                </a:lnTo>
                <a:lnTo>
                  <a:pt x="0" y="212851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741070" y="850034"/>
            <a:ext cx="6519544" cy="2198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419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 Dashboard –</a:t>
            </a:r>
          </a:p>
          <a:p>
            <a:pPr algn="ctr" marL="0" indent="0" lvl="0">
              <a:lnSpc>
                <a:spcPts val="5875"/>
              </a:lnSpc>
            </a:pPr>
            <a:r>
              <a:rPr lang="en-US" b="true" sz="419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Industry Overview (Page 2)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64540" y="5390546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 Grade Distribution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103595" y="6277384"/>
            <a:ext cx="2684802" cy="127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82"/>
              </a:lnSpc>
            </a:pPr>
            <a:r>
              <a:rPr lang="en-US" sz="1487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Moderate: 40%, High: 20%, Low: 15%, Very High: 15%, Moderately High: 10%. Higher-risk funds average 3Y return ~22% vs lower-risk ~6%.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19386" y="5390546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 10 Funds by 3-Year Return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658441" y="6277384"/>
            <a:ext cx="2684802" cy="153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82"/>
              </a:lnSpc>
            </a:pPr>
            <a:r>
              <a:rPr lang="en-US" sz="1487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Ranked bar chart highlighting top-performing mutual funds. Leading funds deliver 3-year returns exceeding 22%, driven by equity mid-cap and small-cap categories.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075943" y="5390546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Fund Distribution by Category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14999" y="6277384"/>
            <a:ext cx="2684802" cy="153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82"/>
              </a:lnSpc>
            </a:pPr>
            <a:r>
              <a:rPr lang="en-US" sz="1487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Equity funds: 39K transactions, Debt funds: 7K. Age group and state-wise investment breakdowns reveal regional preferences and demographic trends.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-843960" y="-603305"/>
            <a:ext cx="2448613" cy="2159231"/>
          </a:xfrm>
          <a:custGeom>
            <a:avLst/>
            <a:gdLst/>
            <a:ahLst/>
            <a:cxnLst/>
            <a:rect r="r" b="b" t="t" l="l"/>
            <a:pathLst>
              <a:path h="2159231" w="2448613">
                <a:moveTo>
                  <a:pt x="0" y="0"/>
                </a:moveTo>
                <a:lnTo>
                  <a:pt x="2448612" y="0"/>
                </a:lnTo>
                <a:lnTo>
                  <a:pt x="2448612" y="2159231"/>
                </a:lnTo>
                <a:lnTo>
                  <a:pt x="0" y="21592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02003" y="3784750"/>
            <a:ext cx="3460617" cy="4986977"/>
            <a:chOff x="0" y="0"/>
            <a:chExt cx="1038937" cy="14971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8937" cy="1497176"/>
            </a:xfrm>
            <a:custGeom>
              <a:avLst/>
              <a:gdLst/>
              <a:ahLst/>
              <a:cxnLst/>
              <a:rect r="r" b="b" t="t" l="l"/>
              <a:pathLst>
                <a:path h="1497176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497176"/>
                  </a:lnTo>
                  <a:lnTo>
                    <a:pt x="0" y="1497176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38937" cy="1535276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30816" y="4013837"/>
            <a:ext cx="3460617" cy="4528803"/>
            <a:chOff x="0" y="0"/>
            <a:chExt cx="1038937" cy="1359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8937" cy="1359625"/>
            </a:xfrm>
            <a:custGeom>
              <a:avLst/>
              <a:gdLst/>
              <a:ahLst/>
              <a:cxnLst/>
              <a:rect r="r" b="b" t="t" l="l"/>
              <a:pathLst>
                <a:path h="1359625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59625"/>
                  </a:lnTo>
                  <a:lnTo>
                    <a:pt x="0" y="1359625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38937" cy="139772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9285" y="3784750"/>
            <a:ext cx="3460617" cy="4986977"/>
            <a:chOff x="0" y="0"/>
            <a:chExt cx="1038937" cy="14971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8937" cy="1497176"/>
            </a:xfrm>
            <a:custGeom>
              <a:avLst/>
              <a:gdLst/>
              <a:ahLst/>
              <a:cxnLst/>
              <a:rect r="r" b="b" t="t" l="l"/>
              <a:pathLst>
                <a:path h="1497176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497176"/>
                  </a:lnTo>
                  <a:lnTo>
                    <a:pt x="0" y="1497176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38937" cy="1535276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78098" y="4013837"/>
            <a:ext cx="3460617" cy="4528803"/>
            <a:chOff x="0" y="0"/>
            <a:chExt cx="1038937" cy="13596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8937" cy="1359625"/>
            </a:xfrm>
            <a:custGeom>
              <a:avLst/>
              <a:gdLst/>
              <a:ahLst/>
              <a:cxnLst/>
              <a:rect r="r" b="b" t="t" l="l"/>
              <a:pathLst>
                <a:path h="1359625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59625"/>
                  </a:lnTo>
                  <a:lnTo>
                    <a:pt x="0" y="1359625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38937" cy="139772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00240" y="3784750"/>
            <a:ext cx="3460617" cy="4986977"/>
            <a:chOff x="0" y="0"/>
            <a:chExt cx="1038937" cy="14971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8937" cy="1497176"/>
            </a:xfrm>
            <a:custGeom>
              <a:avLst/>
              <a:gdLst/>
              <a:ahLst/>
              <a:cxnLst/>
              <a:rect r="r" b="b" t="t" l="l"/>
              <a:pathLst>
                <a:path h="1497176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497176"/>
                  </a:lnTo>
                  <a:lnTo>
                    <a:pt x="0" y="1497176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38937" cy="1535276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29052" y="4013837"/>
            <a:ext cx="3460617" cy="4528803"/>
            <a:chOff x="0" y="0"/>
            <a:chExt cx="1038937" cy="13596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8937" cy="1359625"/>
            </a:xfrm>
            <a:custGeom>
              <a:avLst/>
              <a:gdLst/>
              <a:ahLst/>
              <a:cxnLst/>
              <a:rect r="r" b="b" t="t" l="l"/>
              <a:pathLst>
                <a:path h="1359625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59625"/>
                  </a:lnTo>
                  <a:lnTo>
                    <a:pt x="0" y="1359625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38937" cy="139772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6891642" y="8771727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9"/>
                </a:lnTo>
                <a:lnTo>
                  <a:pt x="0" y="2237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-1936959" y="-1555427"/>
            <a:ext cx="4310743" cy="4114800"/>
          </a:xfrm>
          <a:custGeom>
            <a:avLst/>
            <a:gdLst/>
            <a:ahLst/>
            <a:cxnLst/>
            <a:rect r="r" b="b" t="t" l="l"/>
            <a:pathLst>
              <a:path h="4114800" w="4310743">
                <a:moveTo>
                  <a:pt x="4310743" y="0"/>
                </a:moveTo>
                <a:lnTo>
                  <a:pt x="0" y="0"/>
                </a:lnTo>
                <a:lnTo>
                  <a:pt x="0" y="4114800"/>
                </a:lnTo>
                <a:lnTo>
                  <a:pt x="4310743" y="4114800"/>
                </a:lnTo>
                <a:lnTo>
                  <a:pt x="43107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079303" y="4488474"/>
            <a:ext cx="650407" cy="655919"/>
          </a:xfrm>
          <a:custGeom>
            <a:avLst/>
            <a:gdLst/>
            <a:ahLst/>
            <a:cxnLst/>
            <a:rect r="r" b="b" t="t" l="l"/>
            <a:pathLst>
              <a:path h="655919" w="650407">
                <a:moveTo>
                  <a:pt x="0" y="0"/>
                </a:moveTo>
                <a:lnTo>
                  <a:pt x="650408" y="0"/>
                </a:lnTo>
                <a:lnTo>
                  <a:pt x="650408" y="655920"/>
                </a:lnTo>
                <a:lnTo>
                  <a:pt x="0" y="6559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648007" y="4346956"/>
            <a:ext cx="706010" cy="1014124"/>
          </a:xfrm>
          <a:custGeom>
            <a:avLst/>
            <a:gdLst/>
            <a:ahLst/>
            <a:cxnLst/>
            <a:rect r="r" b="b" t="t" l="l"/>
            <a:pathLst>
              <a:path h="1014124" w="706010">
                <a:moveTo>
                  <a:pt x="0" y="0"/>
                </a:moveTo>
                <a:lnTo>
                  <a:pt x="706010" y="0"/>
                </a:lnTo>
                <a:lnTo>
                  <a:pt x="706010" y="1014125"/>
                </a:lnTo>
                <a:lnTo>
                  <a:pt x="0" y="10141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273815" y="4517493"/>
            <a:ext cx="525504" cy="650673"/>
          </a:xfrm>
          <a:custGeom>
            <a:avLst/>
            <a:gdLst/>
            <a:ahLst/>
            <a:cxnLst/>
            <a:rect r="r" b="b" t="t" l="l"/>
            <a:pathLst>
              <a:path h="650673" w="525504">
                <a:moveTo>
                  <a:pt x="0" y="0"/>
                </a:moveTo>
                <a:lnTo>
                  <a:pt x="525503" y="0"/>
                </a:lnTo>
                <a:lnTo>
                  <a:pt x="525503" y="650673"/>
                </a:lnTo>
                <a:lnTo>
                  <a:pt x="0" y="6506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883590" y="1251932"/>
            <a:ext cx="6519544" cy="199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83"/>
              </a:lnSpc>
            </a:pPr>
            <a:r>
              <a:rPr lang="en-US" b="true" sz="3845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 Dashboard</a:t>
            </a:r>
          </a:p>
          <a:p>
            <a:pPr algn="ctr" marL="0" indent="0" lvl="0">
              <a:lnSpc>
                <a:spcPts val="5383"/>
              </a:lnSpc>
            </a:pPr>
            <a:r>
              <a:rPr lang="en-US" b="true" sz="3845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Investor Analytics (Page 3)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964540" y="5390546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Transaction Type Distribution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103595" y="6277384"/>
            <a:ext cx="2684802" cy="1534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43"/>
              </a:lnSpc>
            </a:pPr>
            <a:r>
              <a:rPr lang="en-US" sz="145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SIP: 58.4% of all transactions. Lumpsum: 35.34%. Redemption: 6.17%. SIPs dominate, reflecting strong systematic investment behavior among investors.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19386" y="5390546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State &amp; Age Group Analysis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658441" y="6277384"/>
            <a:ext cx="2684802" cy="1534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43"/>
              </a:lnSpc>
            </a:pPr>
            <a:r>
              <a:rPr lang="en-US" sz="145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Investment volumes mapped by state and age group. Largest investor segment: 26–35 years (41%). Geographic spread reveals top contributing states and regional trends.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75943" y="5390546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Gender &amp; City Tier Breakdown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14999" y="6277384"/>
            <a:ext cx="2684802" cy="1534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43"/>
              </a:lnSpc>
            </a:pPr>
            <a:r>
              <a:rPr lang="en-US" sz="145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66.54% Male, 33.46% Female investors. City tier analysis compares Top 30 vs Bottom 30 cities, highlighting urban concentration and growth potential in Tier-2 markets.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5683418" y="7098335"/>
            <a:ext cx="900105" cy="787592"/>
            <a:chOff x="0" y="0"/>
            <a:chExt cx="812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93834" y="3464297"/>
            <a:ext cx="3751737" cy="4992242"/>
            <a:chOff x="0" y="0"/>
            <a:chExt cx="988112" cy="13148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8112" cy="1314829"/>
            </a:xfrm>
            <a:custGeom>
              <a:avLst/>
              <a:gdLst/>
              <a:ahLst/>
              <a:cxnLst/>
              <a:rect r="r" b="b" t="t" l="l"/>
              <a:pathLst>
                <a:path h="1314829" w="988112">
                  <a:moveTo>
                    <a:pt x="30953" y="0"/>
                  </a:moveTo>
                  <a:lnTo>
                    <a:pt x="957158" y="0"/>
                  </a:lnTo>
                  <a:cubicBezTo>
                    <a:pt x="974254" y="0"/>
                    <a:pt x="988112" y="13858"/>
                    <a:pt x="988112" y="30953"/>
                  </a:cubicBezTo>
                  <a:lnTo>
                    <a:pt x="988112" y="1283876"/>
                  </a:lnTo>
                  <a:cubicBezTo>
                    <a:pt x="988112" y="1300971"/>
                    <a:pt x="974254" y="1314829"/>
                    <a:pt x="957158" y="1314829"/>
                  </a:cubicBezTo>
                  <a:lnTo>
                    <a:pt x="30953" y="1314829"/>
                  </a:lnTo>
                  <a:cubicBezTo>
                    <a:pt x="13858" y="1314829"/>
                    <a:pt x="0" y="1300971"/>
                    <a:pt x="0" y="1283876"/>
                  </a:cubicBezTo>
                  <a:lnTo>
                    <a:pt x="0" y="30953"/>
                  </a:lnTo>
                  <a:cubicBezTo>
                    <a:pt x="0" y="13858"/>
                    <a:pt x="13858" y="0"/>
                    <a:pt x="30953" y="0"/>
                  </a:cubicBez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88112" cy="1352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0855630" y="7098335"/>
            <a:ext cx="900105" cy="787592"/>
            <a:chOff x="0" y="0"/>
            <a:chExt cx="812800" cy="711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66046" y="3464297"/>
            <a:ext cx="3751737" cy="4992242"/>
            <a:chOff x="0" y="0"/>
            <a:chExt cx="988112" cy="13148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8112" cy="1314829"/>
            </a:xfrm>
            <a:custGeom>
              <a:avLst/>
              <a:gdLst/>
              <a:ahLst/>
              <a:cxnLst/>
              <a:rect r="r" b="b" t="t" l="l"/>
              <a:pathLst>
                <a:path h="1314829" w="988112">
                  <a:moveTo>
                    <a:pt x="30953" y="0"/>
                  </a:moveTo>
                  <a:lnTo>
                    <a:pt x="957158" y="0"/>
                  </a:lnTo>
                  <a:cubicBezTo>
                    <a:pt x="974254" y="0"/>
                    <a:pt x="988112" y="13858"/>
                    <a:pt x="988112" y="30953"/>
                  </a:cubicBezTo>
                  <a:lnTo>
                    <a:pt x="988112" y="1283876"/>
                  </a:lnTo>
                  <a:cubicBezTo>
                    <a:pt x="988112" y="1300971"/>
                    <a:pt x="974254" y="1314829"/>
                    <a:pt x="957158" y="1314829"/>
                  </a:cubicBezTo>
                  <a:lnTo>
                    <a:pt x="30953" y="1314829"/>
                  </a:lnTo>
                  <a:cubicBezTo>
                    <a:pt x="13858" y="1314829"/>
                    <a:pt x="0" y="1300971"/>
                    <a:pt x="0" y="1283876"/>
                  </a:cubicBezTo>
                  <a:lnTo>
                    <a:pt x="0" y="30953"/>
                  </a:lnTo>
                  <a:cubicBezTo>
                    <a:pt x="0" y="13858"/>
                    <a:pt x="13858" y="0"/>
                    <a:pt x="30953" y="0"/>
                  </a:cubicBez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88112" cy="1352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42429" y="3464297"/>
            <a:ext cx="3751737" cy="4992242"/>
            <a:chOff x="0" y="0"/>
            <a:chExt cx="988112" cy="13148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8112" cy="1314829"/>
            </a:xfrm>
            <a:custGeom>
              <a:avLst/>
              <a:gdLst/>
              <a:ahLst/>
              <a:cxnLst/>
              <a:rect r="r" b="b" t="t" l="l"/>
              <a:pathLst>
                <a:path h="1314829" w="988112">
                  <a:moveTo>
                    <a:pt x="30953" y="0"/>
                  </a:moveTo>
                  <a:lnTo>
                    <a:pt x="957158" y="0"/>
                  </a:lnTo>
                  <a:cubicBezTo>
                    <a:pt x="974254" y="0"/>
                    <a:pt x="988112" y="13858"/>
                    <a:pt x="988112" y="30953"/>
                  </a:cubicBezTo>
                  <a:lnTo>
                    <a:pt x="988112" y="1283876"/>
                  </a:lnTo>
                  <a:cubicBezTo>
                    <a:pt x="988112" y="1300971"/>
                    <a:pt x="974254" y="1314829"/>
                    <a:pt x="957158" y="1314829"/>
                  </a:cubicBezTo>
                  <a:lnTo>
                    <a:pt x="30953" y="1314829"/>
                  </a:lnTo>
                  <a:cubicBezTo>
                    <a:pt x="13858" y="1314829"/>
                    <a:pt x="0" y="1300971"/>
                    <a:pt x="0" y="1283876"/>
                  </a:cubicBezTo>
                  <a:lnTo>
                    <a:pt x="0" y="30953"/>
                  </a:lnTo>
                  <a:cubicBezTo>
                    <a:pt x="0" y="13858"/>
                    <a:pt x="13858" y="0"/>
                    <a:pt x="30953" y="0"/>
                  </a:cubicBez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88112" cy="1352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843960" y="8717914"/>
            <a:ext cx="2448613" cy="2159231"/>
          </a:xfrm>
          <a:custGeom>
            <a:avLst/>
            <a:gdLst/>
            <a:ahLst/>
            <a:cxnLst/>
            <a:rect r="r" b="b" t="t" l="l"/>
            <a:pathLst>
              <a:path h="2159231" w="2448613">
                <a:moveTo>
                  <a:pt x="0" y="0"/>
                </a:moveTo>
                <a:lnTo>
                  <a:pt x="2448612" y="0"/>
                </a:lnTo>
                <a:lnTo>
                  <a:pt x="2448612" y="2159231"/>
                </a:lnTo>
                <a:lnTo>
                  <a:pt x="0" y="2159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true" rot="0">
            <a:off x="16528583" y="-809906"/>
            <a:ext cx="2147582" cy="2128513"/>
          </a:xfrm>
          <a:custGeom>
            <a:avLst/>
            <a:gdLst/>
            <a:ahLst/>
            <a:cxnLst/>
            <a:rect r="r" b="b" t="t" l="l"/>
            <a:pathLst>
              <a:path h="2128513" w="2147582">
                <a:moveTo>
                  <a:pt x="0" y="2128513"/>
                </a:moveTo>
                <a:lnTo>
                  <a:pt x="2147582" y="2128513"/>
                </a:lnTo>
                <a:lnTo>
                  <a:pt x="2147582" y="0"/>
                </a:lnTo>
                <a:lnTo>
                  <a:pt x="0" y="0"/>
                </a:lnTo>
                <a:lnTo>
                  <a:pt x="0" y="212851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564955" y="3087157"/>
            <a:ext cx="2410528" cy="2143551"/>
          </a:xfrm>
          <a:custGeom>
            <a:avLst/>
            <a:gdLst/>
            <a:ahLst/>
            <a:cxnLst/>
            <a:rect r="r" b="b" t="t" l="l"/>
            <a:pathLst>
              <a:path h="2143551" w="2410528">
                <a:moveTo>
                  <a:pt x="0" y="0"/>
                </a:moveTo>
                <a:lnTo>
                  <a:pt x="2410528" y="0"/>
                </a:lnTo>
                <a:lnTo>
                  <a:pt x="2410528" y="2143551"/>
                </a:lnTo>
                <a:lnTo>
                  <a:pt x="0" y="21435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652639" y="3914225"/>
            <a:ext cx="872924" cy="698339"/>
          </a:xfrm>
          <a:custGeom>
            <a:avLst/>
            <a:gdLst/>
            <a:ahLst/>
            <a:cxnLst/>
            <a:rect r="r" b="b" t="t" l="l"/>
            <a:pathLst>
              <a:path h="698339" w="872924">
                <a:moveTo>
                  <a:pt x="0" y="0"/>
                </a:moveTo>
                <a:lnTo>
                  <a:pt x="872924" y="0"/>
                </a:lnTo>
                <a:lnTo>
                  <a:pt x="872924" y="698339"/>
                </a:lnTo>
                <a:lnTo>
                  <a:pt x="0" y="6983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726618" y="3667871"/>
            <a:ext cx="1186128" cy="1119137"/>
          </a:xfrm>
          <a:custGeom>
            <a:avLst/>
            <a:gdLst/>
            <a:ahLst/>
            <a:cxnLst/>
            <a:rect r="r" b="b" t="t" l="l"/>
            <a:pathLst>
              <a:path h="1119137" w="1186128">
                <a:moveTo>
                  <a:pt x="0" y="0"/>
                </a:moveTo>
                <a:lnTo>
                  <a:pt x="1186128" y="0"/>
                </a:lnTo>
                <a:lnTo>
                  <a:pt x="1186128" y="1119138"/>
                </a:lnTo>
                <a:lnTo>
                  <a:pt x="0" y="11191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829329" y="952500"/>
            <a:ext cx="6519544" cy="2198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419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 Dashboard –</a:t>
            </a:r>
          </a:p>
          <a:p>
            <a:pPr algn="ctr" marL="0" indent="0" lvl="0">
              <a:lnSpc>
                <a:spcPts val="5875"/>
              </a:lnSpc>
            </a:pPr>
            <a:r>
              <a:rPr lang="en-US" b="true" sz="419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SIP Market Trends (Page 4)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88246" y="5254393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Monthly SIP</a:t>
            </a:r>
          </a:p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Inflow Trends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27302" y="6141231"/>
            <a:ext cx="2684802" cy="153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56"/>
              </a:lnSpc>
            </a:pPr>
            <a:r>
              <a:rPr lang="en-US" sz="146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Line chart tracks monthly SIP inflows showing steady growth over time, highlighting seasonal patterns and acceleration in retail investor participation across fund categories.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16201" y="5254393"/>
            <a:ext cx="3251428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 Grade &amp;</a:t>
            </a:r>
          </a:p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Category Breakdown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799514" y="6141231"/>
            <a:ext cx="2684802" cy="153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56"/>
              </a:lnSpc>
            </a:pPr>
            <a:r>
              <a:rPr lang="en-US" sz="146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Bar charts display risk grade distribution and investment by fund category — Equity leads at 39K, followed by Debt at 7K, with Moderate risk grade at 40% of total funds.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36840" y="5254393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Avg 3-Year Return</a:t>
            </a:r>
          </a:p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by Fund House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975896" y="6141231"/>
            <a:ext cx="2684802" cy="179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56"/>
              </a:lnSpc>
            </a:pPr>
            <a:r>
              <a:rPr lang="en-US" sz="146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Ranked bar chart compares average 3-year returns across fund houses. High-risk fund houses average ~22% returns vs ~6% for lower-risk peers, guiding investor allocation decisions.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33692"/>
            <a:ext cx="6693251" cy="3767692"/>
          </a:xfrm>
          <a:custGeom>
            <a:avLst/>
            <a:gdLst/>
            <a:ahLst/>
            <a:cxnLst/>
            <a:rect r="r" b="b" t="t" l="l"/>
            <a:pathLst>
              <a:path h="3767692" w="6693251">
                <a:moveTo>
                  <a:pt x="0" y="0"/>
                </a:moveTo>
                <a:lnTo>
                  <a:pt x="6693251" y="0"/>
                </a:lnTo>
                <a:lnTo>
                  <a:pt x="6693251" y="3767691"/>
                </a:lnTo>
                <a:lnTo>
                  <a:pt x="0" y="37676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66049" y="1061529"/>
            <a:ext cx="6693251" cy="3739854"/>
          </a:xfrm>
          <a:custGeom>
            <a:avLst/>
            <a:gdLst/>
            <a:ahLst/>
            <a:cxnLst/>
            <a:rect r="r" b="b" t="t" l="l"/>
            <a:pathLst>
              <a:path h="3739854" w="6693251">
                <a:moveTo>
                  <a:pt x="0" y="0"/>
                </a:moveTo>
                <a:lnTo>
                  <a:pt x="6693251" y="0"/>
                </a:lnTo>
                <a:lnTo>
                  <a:pt x="6693251" y="3739854"/>
                </a:lnTo>
                <a:lnTo>
                  <a:pt x="0" y="37398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5494870"/>
            <a:ext cx="6693251" cy="3763430"/>
          </a:xfrm>
          <a:custGeom>
            <a:avLst/>
            <a:gdLst/>
            <a:ahLst/>
            <a:cxnLst/>
            <a:rect r="r" b="b" t="t" l="l"/>
            <a:pathLst>
              <a:path h="3763430" w="6693251">
                <a:moveTo>
                  <a:pt x="0" y="0"/>
                </a:moveTo>
                <a:lnTo>
                  <a:pt x="6693251" y="0"/>
                </a:lnTo>
                <a:lnTo>
                  <a:pt x="6693251" y="3763430"/>
                </a:lnTo>
                <a:lnTo>
                  <a:pt x="0" y="3763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66049" y="5503668"/>
            <a:ext cx="6693251" cy="3754632"/>
          </a:xfrm>
          <a:custGeom>
            <a:avLst/>
            <a:gdLst/>
            <a:ahLst/>
            <a:cxnLst/>
            <a:rect r="r" b="b" t="t" l="l"/>
            <a:pathLst>
              <a:path h="3754632" w="6693251">
                <a:moveTo>
                  <a:pt x="0" y="0"/>
                </a:moveTo>
                <a:lnTo>
                  <a:pt x="6693251" y="0"/>
                </a:lnTo>
                <a:lnTo>
                  <a:pt x="6693251" y="3754632"/>
                </a:lnTo>
                <a:lnTo>
                  <a:pt x="0" y="37546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46256"/>
            <a:ext cx="5650587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1B1B1B"/>
                </a:solidFill>
                <a:latin typeface="Cambria Bold"/>
                <a:ea typeface="Cambria Bold"/>
                <a:cs typeface="Cambria Bold"/>
                <a:sym typeface="Cambria Bold"/>
              </a:rPr>
              <a:t>F</a:t>
            </a:r>
            <a:r>
              <a:rPr lang="en-US" b="true" sz="2599">
                <a:solidFill>
                  <a:srgbClr val="1B1B1B"/>
                </a:solidFill>
                <a:latin typeface="Cambria Bold"/>
                <a:ea typeface="Cambria Bold"/>
                <a:cs typeface="Cambria Bold"/>
                <a:sym typeface="Cambria Bold"/>
              </a:rPr>
              <a:t>und Performance Overview (Page 1)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66049" y="446256"/>
            <a:ext cx="5705713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1B1B1B"/>
                </a:solidFill>
                <a:latin typeface="Cambria Bold"/>
                <a:ea typeface="Cambria Bold"/>
                <a:cs typeface="Cambria Bold"/>
                <a:sym typeface="Cambria Bold"/>
              </a:rPr>
              <a:t>Ind</a:t>
            </a:r>
            <a:r>
              <a:rPr lang="en-US" b="true" sz="2599">
                <a:solidFill>
                  <a:srgbClr val="1B1B1B"/>
                </a:solidFill>
                <a:latin typeface="Cambria Bold"/>
                <a:ea typeface="Cambria Bold"/>
                <a:cs typeface="Cambria Bold"/>
                <a:sym typeface="Cambria Bold"/>
              </a:rPr>
              <a:t>ustry &amp; Category Analysis (Page 2)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897755"/>
            <a:ext cx="4045030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1B1B1B"/>
                </a:solidFill>
                <a:latin typeface="Cambria Bold"/>
                <a:ea typeface="Cambria Bold"/>
                <a:cs typeface="Cambria Bold"/>
                <a:sym typeface="Cambria Bold"/>
              </a:rPr>
              <a:t>Invest</a:t>
            </a:r>
            <a:r>
              <a:rPr lang="en-US" b="true" sz="2599">
                <a:solidFill>
                  <a:srgbClr val="1B1B1B"/>
                </a:solidFill>
                <a:latin typeface="Cambria Bold"/>
                <a:ea typeface="Cambria Bold"/>
                <a:cs typeface="Cambria Bold"/>
                <a:sym typeface="Cambria Bold"/>
              </a:rPr>
              <a:t>or Analytics (Page 3)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66049" y="4897755"/>
            <a:ext cx="4124682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1B1B1B"/>
                </a:solidFill>
                <a:latin typeface="Cambria Bold"/>
                <a:ea typeface="Cambria Bold"/>
                <a:cs typeface="Cambria Bold"/>
                <a:sym typeface="Cambria Bold"/>
              </a:rPr>
              <a:t>SIP</a:t>
            </a:r>
            <a:r>
              <a:rPr lang="en-US" b="true" sz="2599">
                <a:solidFill>
                  <a:srgbClr val="1B1B1B"/>
                </a:solidFill>
                <a:latin typeface="Cambria Bold"/>
                <a:ea typeface="Cambria Bold"/>
                <a:cs typeface="Cambria Bold"/>
                <a:sym typeface="Cambria Bold"/>
              </a:rPr>
              <a:t> Market Trends (Page 4)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38447" y="3615578"/>
            <a:ext cx="3751737" cy="4659424"/>
            <a:chOff x="0" y="0"/>
            <a:chExt cx="988112" cy="1227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8112" cy="1227173"/>
            </a:xfrm>
            <a:custGeom>
              <a:avLst/>
              <a:gdLst/>
              <a:ahLst/>
              <a:cxnLst/>
              <a:rect r="r" b="b" t="t" l="l"/>
              <a:pathLst>
                <a:path h="1227173" w="988112">
                  <a:moveTo>
                    <a:pt x="30953" y="0"/>
                  </a:moveTo>
                  <a:lnTo>
                    <a:pt x="957158" y="0"/>
                  </a:lnTo>
                  <a:cubicBezTo>
                    <a:pt x="974254" y="0"/>
                    <a:pt x="988112" y="13858"/>
                    <a:pt x="988112" y="30953"/>
                  </a:cubicBezTo>
                  <a:lnTo>
                    <a:pt x="988112" y="1196220"/>
                  </a:lnTo>
                  <a:cubicBezTo>
                    <a:pt x="988112" y="1204429"/>
                    <a:pt x="984851" y="1212302"/>
                    <a:pt x="979046" y="1218107"/>
                  </a:cubicBezTo>
                  <a:cubicBezTo>
                    <a:pt x="973241" y="1223912"/>
                    <a:pt x="965368" y="1227173"/>
                    <a:pt x="957158" y="1227173"/>
                  </a:cubicBezTo>
                  <a:lnTo>
                    <a:pt x="30953" y="1227173"/>
                  </a:lnTo>
                  <a:cubicBezTo>
                    <a:pt x="13858" y="1227173"/>
                    <a:pt x="0" y="1213315"/>
                    <a:pt x="0" y="1196220"/>
                  </a:cubicBezTo>
                  <a:lnTo>
                    <a:pt x="0" y="30953"/>
                  </a:lnTo>
                  <a:cubicBezTo>
                    <a:pt x="0" y="13858"/>
                    <a:pt x="13858" y="0"/>
                    <a:pt x="30953" y="0"/>
                  </a:cubicBezTo>
                  <a:close/>
                </a:path>
              </a:pathLst>
            </a:custGeom>
            <a:solidFill>
              <a:srgbClr val="AED581"/>
            </a:solidFill>
            <a:ln w="47625" cap="sq">
              <a:solidFill>
                <a:srgbClr val="689F3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88112" cy="126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25881" y="8116175"/>
            <a:ext cx="3176869" cy="317655"/>
            <a:chOff x="0" y="0"/>
            <a:chExt cx="836706" cy="836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36706" cy="83662"/>
            </a:xfrm>
            <a:custGeom>
              <a:avLst/>
              <a:gdLst/>
              <a:ahLst/>
              <a:cxnLst/>
              <a:rect r="r" b="b" t="t" l="l"/>
              <a:pathLst>
                <a:path h="83662" w="836706">
                  <a:moveTo>
                    <a:pt x="36554" y="0"/>
                  </a:moveTo>
                  <a:lnTo>
                    <a:pt x="800152" y="0"/>
                  </a:lnTo>
                  <a:cubicBezTo>
                    <a:pt x="820340" y="0"/>
                    <a:pt x="836706" y="16366"/>
                    <a:pt x="836706" y="36554"/>
                  </a:cubicBezTo>
                  <a:lnTo>
                    <a:pt x="836706" y="47108"/>
                  </a:lnTo>
                  <a:cubicBezTo>
                    <a:pt x="836706" y="56803"/>
                    <a:pt x="832855" y="66100"/>
                    <a:pt x="826000" y="72956"/>
                  </a:cubicBezTo>
                  <a:cubicBezTo>
                    <a:pt x="819144" y="79811"/>
                    <a:pt x="809847" y="83662"/>
                    <a:pt x="800152" y="83662"/>
                  </a:cubicBezTo>
                  <a:lnTo>
                    <a:pt x="36554" y="83662"/>
                  </a:lnTo>
                  <a:cubicBezTo>
                    <a:pt x="26860" y="83662"/>
                    <a:pt x="17562" y="79811"/>
                    <a:pt x="10707" y="72956"/>
                  </a:cubicBezTo>
                  <a:cubicBezTo>
                    <a:pt x="3851" y="66100"/>
                    <a:pt x="0" y="56803"/>
                    <a:pt x="0" y="47108"/>
                  </a:cubicBezTo>
                  <a:lnTo>
                    <a:pt x="0" y="36554"/>
                  </a:lnTo>
                  <a:cubicBezTo>
                    <a:pt x="0" y="26860"/>
                    <a:pt x="3851" y="17562"/>
                    <a:pt x="10707" y="10707"/>
                  </a:cubicBezTo>
                  <a:cubicBezTo>
                    <a:pt x="17562" y="3851"/>
                    <a:pt x="26860" y="0"/>
                    <a:pt x="36554" y="0"/>
                  </a:cubicBez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36706" cy="121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68131" y="3615578"/>
            <a:ext cx="3751737" cy="4659424"/>
            <a:chOff x="0" y="0"/>
            <a:chExt cx="988112" cy="12271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8112" cy="1227173"/>
            </a:xfrm>
            <a:custGeom>
              <a:avLst/>
              <a:gdLst/>
              <a:ahLst/>
              <a:cxnLst/>
              <a:rect r="r" b="b" t="t" l="l"/>
              <a:pathLst>
                <a:path h="1227173" w="988112">
                  <a:moveTo>
                    <a:pt x="30953" y="0"/>
                  </a:moveTo>
                  <a:lnTo>
                    <a:pt x="957158" y="0"/>
                  </a:lnTo>
                  <a:cubicBezTo>
                    <a:pt x="974254" y="0"/>
                    <a:pt x="988112" y="13858"/>
                    <a:pt x="988112" y="30953"/>
                  </a:cubicBezTo>
                  <a:lnTo>
                    <a:pt x="988112" y="1196220"/>
                  </a:lnTo>
                  <a:cubicBezTo>
                    <a:pt x="988112" y="1204429"/>
                    <a:pt x="984851" y="1212302"/>
                    <a:pt x="979046" y="1218107"/>
                  </a:cubicBezTo>
                  <a:cubicBezTo>
                    <a:pt x="973241" y="1223912"/>
                    <a:pt x="965368" y="1227173"/>
                    <a:pt x="957158" y="1227173"/>
                  </a:cubicBezTo>
                  <a:lnTo>
                    <a:pt x="30953" y="1227173"/>
                  </a:lnTo>
                  <a:cubicBezTo>
                    <a:pt x="13858" y="1227173"/>
                    <a:pt x="0" y="1213315"/>
                    <a:pt x="0" y="1196220"/>
                  </a:cubicBezTo>
                  <a:lnTo>
                    <a:pt x="0" y="30953"/>
                  </a:lnTo>
                  <a:cubicBezTo>
                    <a:pt x="0" y="13858"/>
                    <a:pt x="13858" y="0"/>
                    <a:pt x="30953" y="0"/>
                  </a:cubicBezTo>
                  <a:close/>
                </a:path>
              </a:pathLst>
            </a:custGeom>
            <a:solidFill>
              <a:srgbClr val="DCEDC8"/>
            </a:solidFill>
            <a:ln w="47625" cap="sq">
              <a:solidFill>
                <a:srgbClr val="AED581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88112" cy="126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55566" y="8116175"/>
            <a:ext cx="3176869" cy="317655"/>
            <a:chOff x="0" y="0"/>
            <a:chExt cx="836706" cy="836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36706" cy="83662"/>
            </a:xfrm>
            <a:custGeom>
              <a:avLst/>
              <a:gdLst/>
              <a:ahLst/>
              <a:cxnLst/>
              <a:rect r="r" b="b" t="t" l="l"/>
              <a:pathLst>
                <a:path h="83662" w="836706">
                  <a:moveTo>
                    <a:pt x="36554" y="0"/>
                  </a:moveTo>
                  <a:lnTo>
                    <a:pt x="800152" y="0"/>
                  </a:lnTo>
                  <a:cubicBezTo>
                    <a:pt x="820340" y="0"/>
                    <a:pt x="836706" y="16366"/>
                    <a:pt x="836706" y="36554"/>
                  </a:cubicBezTo>
                  <a:lnTo>
                    <a:pt x="836706" y="47108"/>
                  </a:lnTo>
                  <a:cubicBezTo>
                    <a:pt x="836706" y="56803"/>
                    <a:pt x="832855" y="66100"/>
                    <a:pt x="826000" y="72956"/>
                  </a:cubicBezTo>
                  <a:cubicBezTo>
                    <a:pt x="819144" y="79811"/>
                    <a:pt x="809847" y="83662"/>
                    <a:pt x="800152" y="83662"/>
                  </a:cubicBezTo>
                  <a:lnTo>
                    <a:pt x="36554" y="83662"/>
                  </a:lnTo>
                  <a:cubicBezTo>
                    <a:pt x="26860" y="83662"/>
                    <a:pt x="17562" y="79811"/>
                    <a:pt x="10707" y="72956"/>
                  </a:cubicBezTo>
                  <a:cubicBezTo>
                    <a:pt x="3851" y="66100"/>
                    <a:pt x="0" y="56803"/>
                    <a:pt x="0" y="47108"/>
                  </a:cubicBezTo>
                  <a:lnTo>
                    <a:pt x="0" y="36554"/>
                  </a:lnTo>
                  <a:cubicBezTo>
                    <a:pt x="0" y="26860"/>
                    <a:pt x="3851" y="17562"/>
                    <a:pt x="10707" y="10707"/>
                  </a:cubicBezTo>
                  <a:cubicBezTo>
                    <a:pt x="17562" y="3851"/>
                    <a:pt x="26860" y="0"/>
                    <a:pt x="36554" y="0"/>
                  </a:cubicBez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36706" cy="121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96169" y="3615578"/>
            <a:ext cx="3751737" cy="4659424"/>
            <a:chOff x="0" y="0"/>
            <a:chExt cx="988112" cy="12271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8112" cy="1227173"/>
            </a:xfrm>
            <a:custGeom>
              <a:avLst/>
              <a:gdLst/>
              <a:ahLst/>
              <a:cxnLst/>
              <a:rect r="r" b="b" t="t" l="l"/>
              <a:pathLst>
                <a:path h="1227173" w="988112">
                  <a:moveTo>
                    <a:pt x="30953" y="0"/>
                  </a:moveTo>
                  <a:lnTo>
                    <a:pt x="957158" y="0"/>
                  </a:lnTo>
                  <a:cubicBezTo>
                    <a:pt x="974254" y="0"/>
                    <a:pt x="988112" y="13858"/>
                    <a:pt x="988112" y="30953"/>
                  </a:cubicBezTo>
                  <a:lnTo>
                    <a:pt x="988112" y="1196220"/>
                  </a:lnTo>
                  <a:cubicBezTo>
                    <a:pt x="988112" y="1204429"/>
                    <a:pt x="984851" y="1212302"/>
                    <a:pt x="979046" y="1218107"/>
                  </a:cubicBezTo>
                  <a:cubicBezTo>
                    <a:pt x="973241" y="1223912"/>
                    <a:pt x="965368" y="1227173"/>
                    <a:pt x="957158" y="1227173"/>
                  </a:cubicBezTo>
                  <a:lnTo>
                    <a:pt x="30953" y="1227173"/>
                  </a:lnTo>
                  <a:cubicBezTo>
                    <a:pt x="13858" y="1227173"/>
                    <a:pt x="0" y="1213315"/>
                    <a:pt x="0" y="1196220"/>
                  </a:cubicBezTo>
                  <a:lnTo>
                    <a:pt x="0" y="30953"/>
                  </a:lnTo>
                  <a:cubicBezTo>
                    <a:pt x="0" y="13858"/>
                    <a:pt x="13858" y="0"/>
                    <a:pt x="30953" y="0"/>
                  </a:cubicBezTo>
                  <a:close/>
                </a:path>
              </a:pathLst>
            </a:custGeom>
            <a:solidFill>
              <a:srgbClr val="AED581"/>
            </a:solidFill>
            <a:ln w="47625" cap="sq">
              <a:solidFill>
                <a:srgbClr val="DCEDC8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88112" cy="126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183603" y="8116175"/>
            <a:ext cx="3176869" cy="317655"/>
            <a:chOff x="0" y="0"/>
            <a:chExt cx="836706" cy="836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36706" cy="83662"/>
            </a:xfrm>
            <a:custGeom>
              <a:avLst/>
              <a:gdLst/>
              <a:ahLst/>
              <a:cxnLst/>
              <a:rect r="r" b="b" t="t" l="l"/>
              <a:pathLst>
                <a:path h="83662" w="836706">
                  <a:moveTo>
                    <a:pt x="36554" y="0"/>
                  </a:moveTo>
                  <a:lnTo>
                    <a:pt x="800152" y="0"/>
                  </a:lnTo>
                  <a:cubicBezTo>
                    <a:pt x="820340" y="0"/>
                    <a:pt x="836706" y="16366"/>
                    <a:pt x="836706" y="36554"/>
                  </a:cubicBezTo>
                  <a:lnTo>
                    <a:pt x="836706" y="47108"/>
                  </a:lnTo>
                  <a:cubicBezTo>
                    <a:pt x="836706" y="56803"/>
                    <a:pt x="832855" y="66100"/>
                    <a:pt x="826000" y="72956"/>
                  </a:cubicBezTo>
                  <a:cubicBezTo>
                    <a:pt x="819144" y="79811"/>
                    <a:pt x="809847" y="83662"/>
                    <a:pt x="800152" y="83662"/>
                  </a:cubicBezTo>
                  <a:lnTo>
                    <a:pt x="36554" y="83662"/>
                  </a:lnTo>
                  <a:cubicBezTo>
                    <a:pt x="26860" y="83662"/>
                    <a:pt x="17562" y="79811"/>
                    <a:pt x="10707" y="72956"/>
                  </a:cubicBezTo>
                  <a:cubicBezTo>
                    <a:pt x="3851" y="66100"/>
                    <a:pt x="0" y="56803"/>
                    <a:pt x="0" y="47108"/>
                  </a:cubicBezTo>
                  <a:lnTo>
                    <a:pt x="0" y="36554"/>
                  </a:lnTo>
                  <a:cubicBezTo>
                    <a:pt x="0" y="26860"/>
                    <a:pt x="3851" y="17562"/>
                    <a:pt x="10707" y="10707"/>
                  </a:cubicBezTo>
                  <a:cubicBezTo>
                    <a:pt x="17562" y="3851"/>
                    <a:pt x="26860" y="0"/>
                    <a:pt x="36554" y="0"/>
                  </a:cubicBez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36706" cy="121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146498" y="4053008"/>
            <a:ext cx="731541" cy="558071"/>
          </a:xfrm>
          <a:custGeom>
            <a:avLst/>
            <a:gdLst/>
            <a:ahLst/>
            <a:cxnLst/>
            <a:rect r="r" b="b" t="t" l="l"/>
            <a:pathLst>
              <a:path h="558071" w="731541">
                <a:moveTo>
                  <a:pt x="0" y="0"/>
                </a:moveTo>
                <a:lnTo>
                  <a:pt x="731541" y="0"/>
                </a:lnTo>
                <a:lnTo>
                  <a:pt x="731541" y="558071"/>
                </a:lnTo>
                <a:lnTo>
                  <a:pt x="0" y="5580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859205" y="4042085"/>
            <a:ext cx="646493" cy="565681"/>
          </a:xfrm>
          <a:custGeom>
            <a:avLst/>
            <a:gdLst/>
            <a:ahLst/>
            <a:cxnLst/>
            <a:rect r="r" b="b" t="t" l="l"/>
            <a:pathLst>
              <a:path h="565681" w="646493">
                <a:moveTo>
                  <a:pt x="0" y="0"/>
                </a:moveTo>
                <a:lnTo>
                  <a:pt x="646493" y="0"/>
                </a:lnTo>
                <a:lnTo>
                  <a:pt x="646493" y="565681"/>
                </a:lnTo>
                <a:lnTo>
                  <a:pt x="0" y="5656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466942" y="4161964"/>
            <a:ext cx="608815" cy="565593"/>
          </a:xfrm>
          <a:custGeom>
            <a:avLst/>
            <a:gdLst/>
            <a:ahLst/>
            <a:cxnLst/>
            <a:rect r="r" b="b" t="t" l="l"/>
            <a:pathLst>
              <a:path h="565593" w="608815">
                <a:moveTo>
                  <a:pt x="0" y="0"/>
                </a:moveTo>
                <a:lnTo>
                  <a:pt x="608815" y="0"/>
                </a:lnTo>
                <a:lnTo>
                  <a:pt x="608815" y="565593"/>
                </a:lnTo>
                <a:lnTo>
                  <a:pt x="0" y="5655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883590" y="1242407"/>
            <a:ext cx="6519544" cy="145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419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Metrics &amp; Risk Analysis Summary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979668" y="4839377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Investor Demographics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118723" y="5752601"/>
            <a:ext cx="2684802" cy="1529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79"/>
              </a:lnSpc>
            </a:pPr>
            <a:r>
              <a:rPr lang="en-US" sz="127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Total Investors: 32,780</a:t>
            </a:r>
          </a:p>
          <a:p>
            <a:pPr algn="ctr" marL="0" indent="0" lvl="0">
              <a:lnSpc>
                <a:spcPts val="1779"/>
              </a:lnSpc>
            </a:pPr>
            <a:r>
              <a:rPr lang="en-US" sz="127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• Male: 21,810 (66.54%)</a:t>
            </a:r>
          </a:p>
          <a:p>
            <a:pPr algn="ctr" marL="0" indent="0" lvl="0">
              <a:lnSpc>
                <a:spcPts val="1779"/>
              </a:lnSpc>
            </a:pPr>
            <a:r>
              <a:rPr lang="en-US" sz="127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• Female: 10,970 (33.46%)</a:t>
            </a:r>
          </a:p>
          <a:p>
            <a:pPr algn="ctr" marL="0" indent="0" lvl="0">
              <a:lnSpc>
                <a:spcPts val="1779"/>
              </a:lnSpc>
            </a:pPr>
            <a:r>
              <a:rPr lang="en-US" sz="127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Transactions:</a:t>
            </a:r>
          </a:p>
          <a:p>
            <a:pPr algn="ctr" marL="0" indent="0" lvl="0">
              <a:lnSpc>
                <a:spcPts val="1779"/>
              </a:lnSpc>
            </a:pPr>
            <a:r>
              <a:rPr lang="en-US" sz="127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• SIP: 58.4%</a:t>
            </a:r>
          </a:p>
          <a:p>
            <a:pPr algn="ctr" marL="0" indent="0" lvl="0">
              <a:lnSpc>
                <a:spcPts val="1779"/>
              </a:lnSpc>
            </a:pPr>
            <a:r>
              <a:rPr lang="en-US" sz="127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• Lumpsum: 35.34%</a:t>
            </a:r>
          </a:p>
          <a:p>
            <a:pPr algn="ctr" marL="0" indent="0" lvl="0">
              <a:lnSpc>
                <a:spcPts val="1779"/>
              </a:lnSpc>
            </a:pPr>
            <a:r>
              <a:rPr lang="en-US" sz="127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• Redemption: 6.17%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62543" y="4839377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 Grade Distribution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01599" y="5752601"/>
            <a:ext cx="2684802" cy="1529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79"/>
              </a:lnSpc>
            </a:pPr>
            <a:r>
              <a:rPr lang="en-US" sz="127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• Moderate: 40%</a:t>
            </a:r>
          </a:p>
          <a:p>
            <a:pPr algn="ctr" marL="0" indent="0" lvl="0">
              <a:lnSpc>
                <a:spcPts val="1779"/>
              </a:lnSpc>
            </a:pPr>
            <a:r>
              <a:rPr lang="en-US" sz="127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• High: 20%</a:t>
            </a:r>
          </a:p>
          <a:p>
            <a:pPr algn="ctr" marL="0" indent="0" lvl="0">
              <a:lnSpc>
                <a:spcPts val="1779"/>
              </a:lnSpc>
            </a:pPr>
            <a:r>
              <a:rPr lang="en-US" sz="127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• Low: 15%</a:t>
            </a:r>
          </a:p>
          <a:p>
            <a:pPr algn="ctr" marL="0" indent="0" lvl="0">
              <a:lnSpc>
                <a:spcPts val="1779"/>
              </a:lnSpc>
            </a:pPr>
            <a:r>
              <a:rPr lang="en-US" sz="127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• Very High: 15%</a:t>
            </a:r>
          </a:p>
          <a:p>
            <a:pPr algn="ctr" marL="0" indent="0" lvl="0">
              <a:lnSpc>
                <a:spcPts val="1779"/>
              </a:lnSpc>
            </a:pPr>
            <a:r>
              <a:rPr lang="en-US" sz="127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• Moderately High: 10%</a:t>
            </a:r>
          </a:p>
          <a:p>
            <a:pPr algn="ctr" marL="0" indent="0" lvl="0">
              <a:lnSpc>
                <a:spcPts val="1779"/>
              </a:lnSpc>
            </a:pPr>
            <a:r>
              <a:rPr lang="en-US" sz="127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Higher-risk funds avg 3Y return ~22% vs lower-risk ~6%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90580" y="4839377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 Sharpe Ratio Performers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29636" y="5752601"/>
            <a:ext cx="2684802" cy="1091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79"/>
              </a:lnSpc>
            </a:pPr>
            <a:r>
              <a:rPr lang="en-US" sz="127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Best risk-adjusted returns:</a:t>
            </a:r>
          </a:p>
          <a:p>
            <a:pPr algn="ctr" marL="274432" indent="-137216" lvl="1">
              <a:lnSpc>
                <a:spcPts val="1779"/>
              </a:lnSpc>
              <a:buAutoNum type="arabicPeriod" startAt="1"/>
            </a:pPr>
            <a:r>
              <a:rPr lang="en-US" sz="127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ICICI Pru Liquid Fund</a:t>
            </a:r>
          </a:p>
          <a:p>
            <a:pPr algn="ctr" marL="274432" indent="-137216" lvl="1">
              <a:lnSpc>
                <a:spcPts val="1779"/>
              </a:lnSpc>
              <a:buAutoNum type="arabicPeriod" startAt="1"/>
            </a:pPr>
            <a:r>
              <a:rPr lang="en-US" sz="127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Kotak Liquid Fund</a:t>
            </a:r>
          </a:p>
          <a:p>
            <a:pPr algn="ctr" marL="274432" indent="-137216" lvl="1">
              <a:lnSpc>
                <a:spcPts val="1779"/>
              </a:lnSpc>
              <a:buAutoNum type="arabicPeriod" startAt="1"/>
            </a:pPr>
            <a:r>
              <a:rPr lang="en-US" sz="127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ABSL Liquid Fund</a:t>
            </a:r>
          </a:p>
          <a:p>
            <a:pPr algn="ctr" marL="0" indent="0" lvl="0">
              <a:lnSpc>
                <a:spcPts val="1779"/>
              </a:lnSpc>
            </a:pPr>
            <a:r>
              <a:rPr lang="en-US" sz="127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Avg Portfolio Sharpe Ratio: 1.36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6156658" y="-243107"/>
            <a:ext cx="2150995" cy="2839598"/>
          </a:xfrm>
          <a:custGeom>
            <a:avLst/>
            <a:gdLst/>
            <a:ahLst/>
            <a:cxnLst/>
            <a:rect r="r" b="b" t="t" l="l"/>
            <a:pathLst>
              <a:path h="2839598" w="2150995">
                <a:moveTo>
                  <a:pt x="0" y="0"/>
                </a:moveTo>
                <a:lnTo>
                  <a:pt x="2150995" y="0"/>
                </a:lnTo>
                <a:lnTo>
                  <a:pt x="2150995" y="2839598"/>
                </a:lnTo>
                <a:lnTo>
                  <a:pt x="0" y="28395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-957857" y="8150445"/>
            <a:ext cx="4268956" cy="2294564"/>
          </a:xfrm>
          <a:custGeom>
            <a:avLst/>
            <a:gdLst/>
            <a:ahLst/>
            <a:cxnLst/>
            <a:rect r="r" b="b" t="t" l="l"/>
            <a:pathLst>
              <a:path h="2294564" w="4268956">
                <a:moveTo>
                  <a:pt x="0" y="0"/>
                </a:moveTo>
                <a:lnTo>
                  <a:pt x="4268956" y="0"/>
                </a:lnTo>
                <a:lnTo>
                  <a:pt x="4268956" y="2294564"/>
                </a:lnTo>
                <a:lnTo>
                  <a:pt x="0" y="22945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30816" y="3257431"/>
            <a:ext cx="3460617" cy="1257799"/>
            <a:chOff x="0" y="0"/>
            <a:chExt cx="1038937" cy="3776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8937" cy="377613"/>
            </a:xfrm>
            <a:custGeom>
              <a:avLst/>
              <a:gdLst/>
              <a:ahLst/>
              <a:cxnLst/>
              <a:rect r="r" b="b" t="t" l="l"/>
              <a:pathLst>
                <a:path h="377613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377613"/>
                  </a:lnTo>
                  <a:lnTo>
                    <a:pt x="0" y="377613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38937" cy="41571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30816" y="4515230"/>
            <a:ext cx="3460617" cy="4256497"/>
            <a:chOff x="0" y="0"/>
            <a:chExt cx="1038937" cy="12778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8937" cy="1277874"/>
            </a:xfrm>
            <a:custGeom>
              <a:avLst/>
              <a:gdLst/>
              <a:ahLst/>
              <a:cxnLst/>
              <a:rect r="r" b="b" t="t" l="l"/>
              <a:pathLst>
                <a:path h="1277874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277874"/>
                  </a:lnTo>
                  <a:lnTo>
                    <a:pt x="0" y="1277874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38937" cy="1315974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13691" y="3257431"/>
            <a:ext cx="3460617" cy="1257799"/>
            <a:chOff x="0" y="0"/>
            <a:chExt cx="1038937" cy="3776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8937" cy="377613"/>
            </a:xfrm>
            <a:custGeom>
              <a:avLst/>
              <a:gdLst/>
              <a:ahLst/>
              <a:cxnLst/>
              <a:rect r="r" b="b" t="t" l="l"/>
              <a:pathLst>
                <a:path h="377613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377613"/>
                  </a:lnTo>
                  <a:lnTo>
                    <a:pt x="0" y="377613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38937" cy="41571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13691" y="4515230"/>
            <a:ext cx="3460617" cy="4256497"/>
            <a:chOff x="0" y="0"/>
            <a:chExt cx="1038937" cy="12778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8937" cy="1277874"/>
            </a:xfrm>
            <a:custGeom>
              <a:avLst/>
              <a:gdLst/>
              <a:ahLst/>
              <a:cxnLst/>
              <a:rect r="r" b="b" t="t" l="l"/>
              <a:pathLst>
                <a:path h="1277874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277874"/>
                  </a:lnTo>
                  <a:lnTo>
                    <a:pt x="0" y="1277874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38937" cy="1315974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093509" y="3257431"/>
            <a:ext cx="3460617" cy="1257799"/>
            <a:chOff x="0" y="0"/>
            <a:chExt cx="1038937" cy="3776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8937" cy="377613"/>
            </a:xfrm>
            <a:custGeom>
              <a:avLst/>
              <a:gdLst/>
              <a:ahLst/>
              <a:cxnLst/>
              <a:rect r="r" b="b" t="t" l="l"/>
              <a:pathLst>
                <a:path h="377613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377613"/>
                  </a:lnTo>
                  <a:lnTo>
                    <a:pt x="0" y="377613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38937" cy="41571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093509" y="4515230"/>
            <a:ext cx="3460617" cy="4256497"/>
            <a:chOff x="0" y="0"/>
            <a:chExt cx="1038937" cy="127787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8937" cy="1277874"/>
            </a:xfrm>
            <a:custGeom>
              <a:avLst/>
              <a:gdLst/>
              <a:ahLst/>
              <a:cxnLst/>
              <a:rect r="r" b="b" t="t" l="l"/>
              <a:pathLst>
                <a:path h="1277874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277874"/>
                  </a:lnTo>
                  <a:lnTo>
                    <a:pt x="0" y="1277874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38937" cy="1315974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941404" y="5260997"/>
            <a:ext cx="1032615" cy="971037"/>
          </a:xfrm>
          <a:custGeom>
            <a:avLst/>
            <a:gdLst/>
            <a:ahLst/>
            <a:cxnLst/>
            <a:rect r="r" b="b" t="t" l="l"/>
            <a:pathLst>
              <a:path h="971037" w="1032615">
                <a:moveTo>
                  <a:pt x="0" y="0"/>
                </a:moveTo>
                <a:lnTo>
                  <a:pt x="1032615" y="0"/>
                </a:lnTo>
                <a:lnTo>
                  <a:pt x="1032615" y="971037"/>
                </a:lnTo>
                <a:lnTo>
                  <a:pt x="0" y="9710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695944" y="4810743"/>
            <a:ext cx="840186" cy="1025495"/>
          </a:xfrm>
          <a:custGeom>
            <a:avLst/>
            <a:gdLst/>
            <a:ahLst/>
            <a:cxnLst/>
            <a:rect r="r" b="b" t="t" l="l"/>
            <a:pathLst>
              <a:path h="1025495" w="840186">
                <a:moveTo>
                  <a:pt x="0" y="0"/>
                </a:moveTo>
                <a:lnTo>
                  <a:pt x="840186" y="0"/>
                </a:lnTo>
                <a:lnTo>
                  <a:pt x="840186" y="1025495"/>
                </a:lnTo>
                <a:lnTo>
                  <a:pt x="0" y="10254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367542" y="5132086"/>
            <a:ext cx="918545" cy="925638"/>
          </a:xfrm>
          <a:custGeom>
            <a:avLst/>
            <a:gdLst/>
            <a:ahLst/>
            <a:cxnLst/>
            <a:rect r="r" b="b" t="t" l="l"/>
            <a:pathLst>
              <a:path h="925638" w="918545">
                <a:moveTo>
                  <a:pt x="0" y="0"/>
                </a:moveTo>
                <a:lnTo>
                  <a:pt x="918545" y="0"/>
                </a:lnTo>
                <a:lnTo>
                  <a:pt x="918545" y="925638"/>
                </a:lnTo>
                <a:lnTo>
                  <a:pt x="0" y="9256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883590" y="1251932"/>
            <a:ext cx="6519544" cy="130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91"/>
              </a:lnSpc>
            </a:pPr>
            <a:r>
              <a:rPr lang="en-US" b="true" sz="377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Mutual Fund Recommendation System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979668" y="3503426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1: Filter by Risk Appetite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118723" y="6478751"/>
            <a:ext cx="2684802" cy="155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78"/>
              </a:lnSpc>
            </a:pPr>
            <a:r>
              <a:rPr lang="en-US" sz="1770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Funds are filtered based on the investor's risk grade preference (Low, Moderate, High, Very High) to ensure suitability.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62543" y="3503426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2: Rank by Sharpe Ratio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42361" y="3503426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3: Top 3 Recommendations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801599" y="6478751"/>
            <a:ext cx="2684802" cy="155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78"/>
              </a:lnSpc>
            </a:pPr>
            <a:r>
              <a:rPr lang="en-US" sz="1770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Within each risk category, funds are ranked by Sharpe Ratio to identify the best risk-adjusted return performers.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81416" y="6478751"/>
            <a:ext cx="2684802" cy="155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78"/>
              </a:lnSpc>
            </a:pPr>
            <a:r>
              <a:rPr lang="en-US" sz="1770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High Risk Example:</a:t>
            </a:r>
          </a:p>
          <a:p>
            <a:pPr algn="ctr" marL="0" indent="0" lvl="0">
              <a:lnSpc>
                <a:spcPts val="2478"/>
              </a:lnSpc>
            </a:pPr>
            <a:r>
              <a:rPr lang="en-US" sz="1770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• Kotak Emerging Equity (0.96)</a:t>
            </a:r>
          </a:p>
          <a:p>
            <a:pPr algn="ctr" marL="0" indent="0" lvl="0">
              <a:lnSpc>
                <a:spcPts val="2478"/>
              </a:lnSpc>
            </a:pPr>
            <a:r>
              <a:rPr lang="en-US" sz="1770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• ICICI Pru Midcap (0.95)</a:t>
            </a:r>
          </a:p>
          <a:p>
            <a:pPr algn="ctr" marL="0" indent="0" lvl="0">
              <a:lnSpc>
                <a:spcPts val="2478"/>
              </a:lnSpc>
            </a:pPr>
            <a:r>
              <a:rPr lang="en-US" sz="1770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• DSP Midcap Fund (0.90)</a:t>
            </a:r>
          </a:p>
        </p:txBody>
      </p:sp>
      <p:sp>
        <p:nvSpPr>
          <p:cNvPr name="Freeform 30" id="30"/>
          <p:cNvSpPr/>
          <p:nvPr/>
        </p:nvSpPr>
        <p:spPr>
          <a:xfrm flipH="false" flipV="true" rot="0">
            <a:off x="16397529" y="8347556"/>
            <a:ext cx="3230536" cy="2638920"/>
          </a:xfrm>
          <a:custGeom>
            <a:avLst/>
            <a:gdLst/>
            <a:ahLst/>
            <a:cxnLst/>
            <a:rect r="r" b="b" t="t" l="l"/>
            <a:pathLst>
              <a:path h="2638920" w="3230536">
                <a:moveTo>
                  <a:pt x="0" y="2638920"/>
                </a:moveTo>
                <a:lnTo>
                  <a:pt x="3230536" y="2638920"/>
                </a:lnTo>
                <a:lnTo>
                  <a:pt x="3230536" y="0"/>
                </a:lnTo>
                <a:lnTo>
                  <a:pt x="0" y="0"/>
                </a:lnTo>
                <a:lnTo>
                  <a:pt x="0" y="263892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-543230" y="-408495"/>
            <a:ext cx="2283441" cy="2620955"/>
          </a:xfrm>
          <a:custGeom>
            <a:avLst/>
            <a:gdLst/>
            <a:ahLst/>
            <a:cxnLst/>
            <a:rect r="r" b="b" t="t" l="l"/>
            <a:pathLst>
              <a:path h="2620955" w="2283441">
                <a:moveTo>
                  <a:pt x="0" y="0"/>
                </a:moveTo>
                <a:lnTo>
                  <a:pt x="2283442" y="0"/>
                </a:lnTo>
                <a:lnTo>
                  <a:pt x="2283442" y="2620955"/>
                </a:lnTo>
                <a:lnTo>
                  <a:pt x="0" y="26209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56448" y="5343922"/>
            <a:ext cx="2999498" cy="2398708"/>
          </a:xfrm>
          <a:custGeom>
            <a:avLst/>
            <a:gdLst/>
            <a:ahLst/>
            <a:cxnLst/>
            <a:rect r="r" b="b" t="t" l="l"/>
            <a:pathLst>
              <a:path h="2398708" w="2999498">
                <a:moveTo>
                  <a:pt x="0" y="0"/>
                </a:moveTo>
                <a:lnTo>
                  <a:pt x="2999498" y="0"/>
                </a:lnTo>
                <a:lnTo>
                  <a:pt x="2999498" y="2398709"/>
                </a:lnTo>
                <a:lnTo>
                  <a:pt x="0" y="2398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66225" y="3544795"/>
            <a:ext cx="2999498" cy="2398708"/>
          </a:xfrm>
          <a:custGeom>
            <a:avLst/>
            <a:gdLst/>
            <a:ahLst/>
            <a:cxnLst/>
            <a:rect r="r" b="b" t="t" l="l"/>
            <a:pathLst>
              <a:path h="2398708" w="2999498">
                <a:moveTo>
                  <a:pt x="0" y="0"/>
                </a:moveTo>
                <a:lnTo>
                  <a:pt x="2999499" y="0"/>
                </a:lnTo>
                <a:lnTo>
                  <a:pt x="2999499" y="2398709"/>
                </a:lnTo>
                <a:lnTo>
                  <a:pt x="0" y="2398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8675674" y="7139235"/>
            <a:ext cx="2436744" cy="2436744"/>
          </a:xfrm>
          <a:custGeom>
            <a:avLst/>
            <a:gdLst/>
            <a:ahLst/>
            <a:cxnLst/>
            <a:rect r="r" b="b" t="t" l="l"/>
            <a:pathLst>
              <a:path h="2436744" w="2436744">
                <a:moveTo>
                  <a:pt x="2436744" y="0"/>
                </a:moveTo>
                <a:lnTo>
                  <a:pt x="0" y="0"/>
                </a:lnTo>
                <a:lnTo>
                  <a:pt x="0" y="2436744"/>
                </a:lnTo>
                <a:lnTo>
                  <a:pt x="2436744" y="2436744"/>
                </a:lnTo>
                <a:lnTo>
                  <a:pt x="243674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87332" y="1744550"/>
            <a:ext cx="2999498" cy="2398708"/>
          </a:xfrm>
          <a:custGeom>
            <a:avLst/>
            <a:gdLst/>
            <a:ahLst/>
            <a:cxnLst/>
            <a:rect r="r" b="b" t="t" l="l"/>
            <a:pathLst>
              <a:path h="2398708" w="2999498">
                <a:moveTo>
                  <a:pt x="0" y="0"/>
                </a:moveTo>
                <a:lnTo>
                  <a:pt x="2999498" y="0"/>
                </a:lnTo>
                <a:lnTo>
                  <a:pt x="2999498" y="2398708"/>
                </a:lnTo>
                <a:lnTo>
                  <a:pt x="0" y="2398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33638" y="155031"/>
            <a:ext cx="592749" cy="3790837"/>
          </a:xfrm>
          <a:custGeom>
            <a:avLst/>
            <a:gdLst/>
            <a:ahLst/>
            <a:cxnLst/>
            <a:rect r="r" b="b" t="t" l="l"/>
            <a:pathLst>
              <a:path h="3790837" w="592749">
                <a:moveTo>
                  <a:pt x="0" y="0"/>
                </a:moveTo>
                <a:lnTo>
                  <a:pt x="592750" y="0"/>
                </a:lnTo>
                <a:lnTo>
                  <a:pt x="592750" y="3790837"/>
                </a:lnTo>
                <a:lnTo>
                  <a:pt x="0" y="3790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0510144" y="9547404"/>
            <a:ext cx="592749" cy="3790837"/>
          </a:xfrm>
          <a:custGeom>
            <a:avLst/>
            <a:gdLst/>
            <a:ahLst/>
            <a:cxnLst/>
            <a:rect r="r" b="b" t="t" l="l"/>
            <a:pathLst>
              <a:path h="3790837" w="592749">
                <a:moveTo>
                  <a:pt x="0" y="0"/>
                </a:moveTo>
                <a:lnTo>
                  <a:pt x="592749" y="0"/>
                </a:lnTo>
                <a:lnTo>
                  <a:pt x="592749" y="3790837"/>
                </a:lnTo>
                <a:lnTo>
                  <a:pt x="0" y="3790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392245" y="2050449"/>
            <a:ext cx="1316128" cy="131612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48225" y="3827372"/>
            <a:ext cx="1316128" cy="131612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49590" y="5613608"/>
            <a:ext cx="1316128" cy="131612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825574" y="2511072"/>
            <a:ext cx="446251" cy="403006"/>
          </a:xfrm>
          <a:custGeom>
            <a:avLst/>
            <a:gdLst/>
            <a:ahLst/>
            <a:cxnLst/>
            <a:rect r="r" b="b" t="t" l="l"/>
            <a:pathLst>
              <a:path h="403006" w="446251">
                <a:moveTo>
                  <a:pt x="0" y="0"/>
                </a:moveTo>
                <a:lnTo>
                  <a:pt x="446251" y="0"/>
                </a:lnTo>
                <a:lnTo>
                  <a:pt x="446251" y="403006"/>
                </a:lnTo>
                <a:lnTo>
                  <a:pt x="0" y="4030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600951" y="4262917"/>
            <a:ext cx="425295" cy="431042"/>
          </a:xfrm>
          <a:custGeom>
            <a:avLst/>
            <a:gdLst/>
            <a:ahLst/>
            <a:cxnLst/>
            <a:rect r="r" b="b" t="t" l="l"/>
            <a:pathLst>
              <a:path h="431042" w="425295">
                <a:moveTo>
                  <a:pt x="0" y="0"/>
                </a:moveTo>
                <a:lnTo>
                  <a:pt x="425295" y="0"/>
                </a:lnTo>
                <a:lnTo>
                  <a:pt x="425295" y="431042"/>
                </a:lnTo>
                <a:lnTo>
                  <a:pt x="0" y="4310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372384" y="6040987"/>
            <a:ext cx="485989" cy="478460"/>
          </a:xfrm>
          <a:custGeom>
            <a:avLst/>
            <a:gdLst/>
            <a:ahLst/>
            <a:cxnLst/>
            <a:rect r="r" b="b" t="t" l="l"/>
            <a:pathLst>
              <a:path h="478460" w="485989">
                <a:moveTo>
                  <a:pt x="0" y="0"/>
                </a:moveTo>
                <a:lnTo>
                  <a:pt x="485990" y="0"/>
                </a:lnTo>
                <a:lnTo>
                  <a:pt x="485990" y="478460"/>
                </a:lnTo>
                <a:lnTo>
                  <a:pt x="0" y="4784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506702" y="6286404"/>
            <a:ext cx="6519544" cy="7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75"/>
              </a:lnSpc>
            </a:pPr>
            <a:r>
              <a:rPr lang="en-US" b="true" sz="419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Scope &amp; Closing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148225" y="2012349"/>
            <a:ext cx="4068790" cy="30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2"/>
              </a:lnSpc>
            </a:pPr>
            <a:r>
              <a:rPr lang="en-US" b="true" sz="1801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Enhancements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48225" y="2501962"/>
            <a:ext cx="7087084" cy="62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Live NAV data integration via APIs, ML models for return prediction, and personalized recommendations using collaborative filtering.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49590" y="3911065"/>
            <a:ext cx="4477249" cy="30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2"/>
              </a:lnSpc>
            </a:pPr>
            <a:r>
              <a:rPr lang="en-US" b="true" sz="1801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Real-Time Deployment &amp; Automation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49590" y="4400677"/>
            <a:ext cx="7087084" cy="62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Real-time Power BI dashboard deployment with automated data refresh pipelines for continuous, up-to-date fund analytics.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91767" y="5697301"/>
            <a:ext cx="4568017" cy="30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2"/>
              </a:lnSpc>
            </a:pPr>
            <a:r>
              <a:rPr lang="en-US" b="true" sz="1801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 for Your Attention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691767" y="6186913"/>
            <a:ext cx="6567533" cy="62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Open for questions and discussion. Presented by Divyansh Dave – Bluestock Fintech Internship, June 2026.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-948577" y="8132336"/>
            <a:ext cx="2750430" cy="2975806"/>
          </a:xfrm>
          <a:custGeom>
            <a:avLst/>
            <a:gdLst/>
            <a:ahLst/>
            <a:cxnLst/>
            <a:rect r="r" b="b" t="t" l="l"/>
            <a:pathLst>
              <a:path h="2975806" w="2750430">
                <a:moveTo>
                  <a:pt x="0" y="0"/>
                </a:moveTo>
                <a:lnTo>
                  <a:pt x="2750430" y="0"/>
                </a:lnTo>
                <a:lnTo>
                  <a:pt x="2750430" y="2975805"/>
                </a:lnTo>
                <a:lnTo>
                  <a:pt x="0" y="297580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6891642" y="-363110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8"/>
                </a:lnTo>
                <a:lnTo>
                  <a:pt x="0" y="22372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DAHMRptkAoo</dc:identifier>
  <dcterms:modified xsi:type="dcterms:W3CDTF">2011-08-01T06:04:30Z</dcterms:modified>
  <cp:revision>1</cp:revision>
  <dc:title>Mutual Fund Analytics Capstone</dc:title>
</cp:coreProperties>
</file>